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uyinlin/sdc2026-lumina-nusantara/blob/main/README.md" TargetMode="External"/><Relationship Id="rId3" Type="http://schemas.openxmlformats.org/officeDocument/2006/relationships/hyperlink" Target="https://github.com/douyinlin/sdc2026-lumina-nusantara/blob/main/data/trends/dosm_q2_2026.json" TargetMode="External"/><Relationship Id="rId4" Type="http://schemas.openxmlformats.org/officeDocument/2006/relationships/hyperlink" Target="https://github.com/douyinlin/sdc2026-lumina-nusantara/blob/main/data/trends/wef_future_jobs_2025.jso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uyinlin/sdc2026-lumina-nusantara/blob/main/src/utils.py" TargetMode="External"/><Relationship Id="rId3" Type="http://schemas.openxmlformats.org/officeDocument/2006/relationships/hyperlink" Target="https://github.com/douyinlin/sdc2026-lumina-nusantara/blob/main/src/cv.py" TargetMode="External"/><Relationship Id="rId4" Type="http://schemas.openxmlformats.org/officeDocument/2006/relationships/hyperlink" Target="https://github.com/douyinlin/sdc2026-lumina-nusantara/blob/main/src/trends.p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uyinlin/sdc2026-lumina-nusantara/tree/main/tests" TargetMode="External"/><Relationship Id="rId3" Type="http://schemas.openxmlformats.org/officeDocument/2006/relationships/hyperlink" Target="https://github.com/douyinlin/sdc2026-lumina-nusantara/blob/main/submission/SDC2026_LuminaNusantara_TechDeclaration.pdf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uyinlin/sdc2026-lumina-nusantara/blob/main/submission/REPLIT%20PROOF%20OF%20USE.pdf" TargetMode="External"/><Relationship Id="rId3" Type="http://schemas.openxmlformats.org/officeDocument/2006/relationships/hyperlink" Target="https://github.com/douyinlin/sdc2026-lumina-nusantara/blob/main/submission/SDC2026_LuminaNusantara_TechDeclaration.pdf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uyinlin/sdc2026-lumina-nusantara/blob/main/data/skills_sdg.json" TargetMode="External"/><Relationship Id="rId3" Type="http://schemas.openxmlformats.org/officeDocument/2006/relationships/hyperlink" Target="https://github.com/douyinlin/sdc2026-lumina-nusantara/blob/main/README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uyinlin/sdc2026-lumina-nusantara/blob/main/data/courses.json" TargetMode="External"/><Relationship Id="rId3" Type="http://schemas.openxmlformats.org/officeDocument/2006/relationships/hyperlink" Target="https://github.com/douyinlin/sdc2026-lumina-nusantara/blob/main/data/sample_cv.tx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uyinlin/sdc2026-lumina-nusantara/blob/main/README.md" TargetMode="External"/><Relationship Id="rId3" Type="http://schemas.openxmlformats.org/officeDocument/2006/relationships/hyperlink" Target="https://github.com/douyinlin/sdc2026-lumina-nusantara/blob/main/submission/SDC2026_LuminaNusantara_SlideDeck.ppt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D4A9"/>
                </a:solidFill>
                <a:latin typeface="Arial"/>
              </a:rPr>
              <a:t>SKILLRADAR MY  ·  SDC 2026  ·  DOMAIN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2F5E9"/>
                </a:solidFill>
                <a:latin typeface="Arial"/>
              </a:rPr>
              <a:t>Demo video cue sheet
4:10 to 6:00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DE6C8"/>
                </a:solidFill>
                <a:latin typeface="Arial"/>
              </a:rPr>
              <a:t>One slide per beat. Left: what to show. Right: what to say.
Every link opens the exact file on GitHub, so nothing has to be remembered.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D4A9"/>
                </a:solidFill>
                <a:latin typeface="Arial"/>
              </a:rPr>
              <a:t>github.com/douyinlin/sdc2026-lumina-nusantara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F8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F8140"/>
                </a:solidFill>
                <a:latin typeface="Arial"/>
              </a:rPr>
              <a:t>4:10 - 4:20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F4A26"/>
                </a:solidFill>
                <a:latin typeface="Arial"/>
              </a:rPr>
              <a:t>Where the data comes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029200" cy="2788920"/>
          </a:xfrm>
          <a:prstGeom prst="rect">
            <a:avLst/>
          </a:prstGeom>
          <a:solidFill>
            <a:srgbClr val="F2F5E9"/>
          </a:solidFill>
          <a:ln>
            <a:solidFill>
              <a:srgbClr val="D8DF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560"/>
                </a:solidFill>
                <a:latin typeface="Arial"/>
              </a:rPr>
              <a:t>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A18"/>
                </a:solidFill>
                <a:latin typeface="Arial"/>
              </a:rPr>
              <a:t>· GitHub README, Data sources table</a:t>
            </a:r>
          </a:p>
          <a:p>
            <a:r>
              <a:rPr sz="1500">
                <a:solidFill>
                  <a:srgbClr val="222A18"/>
                </a:solidFill>
                <a:latin typeface="Arial"/>
              </a:rPr>
              <a:t>· then data/trends/dosm_q2_2026.json</a:t>
            </a:r>
          </a:p>
          <a:p>
            <a:r>
              <a:rPr sz="1500">
                <a:solidFill>
                  <a:srgbClr val="222A18"/>
                </a:solidFill>
                <a:latin typeface="Arial"/>
              </a:rPr>
              <a:t>· stop on source_url, latest_released, extraction_note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874519"/>
            <a:ext cx="57607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B7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7FA6"/>
                </a:solidFill>
                <a:latin typeface="Arial"/>
              </a:rPr>
              <a:t>SAY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7744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222A18"/>
                </a:solidFill>
                <a:latin typeface="Arial"/>
              </a:rPr>
              <a:t>“Three sources, kept separate. DOSM publishes advertised vacancies by occupation - we transcribe the counts by hand and keep the link, the date and a note on what it cannot support, inside the JSON itself.”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60"/>
                </a:solidFill>
                <a:latin typeface="Arial"/>
              </a:rPr>
              <a:t>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B7FA6"/>
                </a:solidFill>
                <a:latin typeface="Arial"/>
                <a:hlinkClick r:id="rId2"/>
              </a:rPr>
              <a:t>README data sources</a:t>
            </a:r>
          </a:p>
          <a:p>
            <a:r>
              <a:rPr sz="1200">
                <a:solidFill>
                  <a:srgbClr val="5B7FA6"/>
                </a:solidFill>
                <a:latin typeface="Arial"/>
                <a:hlinkClick r:id="rId3"/>
              </a:rPr>
              <a:t>dosm_q2_2026.json</a:t>
            </a:r>
          </a:p>
          <a:p>
            <a:r>
              <a:rPr sz="1200">
                <a:solidFill>
                  <a:srgbClr val="5B7FA6"/>
                </a:solidFill>
                <a:latin typeface="Arial"/>
                <a:hlinkClick r:id="rId4"/>
              </a:rPr>
              <a:t>wef_future_jobs_2025.json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5074920"/>
            <a:ext cx="3291840" cy="1005840"/>
          </a:xfrm>
          <a:prstGeom prst="rect">
            <a:avLst/>
          </a:prstGeom>
          <a:solidFill>
            <a:srgbClr val="FBF4E4"/>
          </a:solidFill>
          <a:ln>
            <a:solidFill>
              <a:srgbClr val="E6D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100">
                <a:solidFill>
                  <a:srgbClr val="7A5A1E"/>
                </a:solidFill>
                <a:latin typeface="Arial"/>
              </a:rPr>
              <a:t>Hold 2 seconds on extraction_note - it is the honesty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560"/>
                </a:solidFill>
                <a:latin typeface="Arial"/>
              </a:rPr>
              <a:t>SkillRadar MY · Lumina Nusantara · SDC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F8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F8140"/>
                </a:solidFill>
                <a:latin typeface="Arial"/>
              </a:rPr>
              <a:t>4:20 - 4:35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F4A26"/>
                </a:solidFill>
                <a:latin typeface="Arial"/>
              </a:rPr>
              <a:t>What the program does, what the AI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029200" cy="2788920"/>
          </a:xfrm>
          <a:prstGeom prst="rect">
            <a:avLst/>
          </a:prstGeom>
          <a:solidFill>
            <a:srgbClr val="F2F5E9"/>
          </a:solidFill>
          <a:ln>
            <a:solidFill>
              <a:srgbClr val="D8DF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560"/>
                </a:solidFill>
                <a:latin typeface="Arial"/>
              </a:rPr>
              <a:t>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A18"/>
                </a:solidFill>
                <a:latin typeface="Arial"/>
              </a:rPr>
              <a:t>· App results page - point at the score</a:t>
            </a:r>
          </a:p>
          <a:p>
            <a:r>
              <a:rPr sz="1500">
                <a:solidFill>
                  <a:srgbClr val="222A18"/>
                </a:solidFill>
                <a:latin typeface="Arial"/>
              </a:rPr>
              <a:t>· then src/utils.py - the scoring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874519"/>
            <a:ext cx="57607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B7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7FA6"/>
                </a:solidFill>
                <a:latin typeface="Arial"/>
              </a:rPr>
              <a:t>SAY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7744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222A18"/>
                </a:solidFill>
                <a:latin typeface="Arial"/>
              </a:rPr>
              <a:t>“The running application has no model. Parsing is keyword matching, scoring is five weighted rules in this file, and the pathway is a lookup over a curated catalogue. Same profile, same answer, every time - and every point is explainable.”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60"/>
                </a:solidFill>
                <a:latin typeface="Arial"/>
              </a:rPr>
              <a:t>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B7FA6"/>
                </a:solidFill>
                <a:latin typeface="Arial"/>
                <a:hlinkClick r:id="rId2"/>
              </a:rPr>
              <a:t>src/utils.py (scoring)</a:t>
            </a:r>
          </a:p>
          <a:p>
            <a:r>
              <a:rPr sz="1200">
                <a:solidFill>
                  <a:srgbClr val="5B7FA6"/>
                </a:solidFill>
                <a:latin typeface="Arial"/>
                <a:hlinkClick r:id="rId3"/>
              </a:rPr>
              <a:t>src/cv.py (parsing)</a:t>
            </a:r>
          </a:p>
          <a:p>
            <a:r>
              <a:rPr sz="1200">
                <a:solidFill>
                  <a:srgbClr val="5B7FA6"/>
                </a:solidFill>
                <a:latin typeface="Arial"/>
                <a:hlinkClick r:id="rId4"/>
              </a:rPr>
              <a:t>src/trends.py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5074920"/>
            <a:ext cx="3291840" cy="1005840"/>
          </a:xfrm>
          <a:prstGeom prst="rect">
            <a:avLst/>
          </a:prstGeom>
          <a:solidFill>
            <a:srgbClr val="FBF4E4"/>
          </a:solidFill>
          <a:ln>
            <a:solidFill>
              <a:srgbClr val="E6D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100">
                <a:solidFill>
                  <a:srgbClr val="7A5A1E"/>
                </a:solidFill>
                <a:latin typeface="Arial"/>
              </a:rPr>
              <a:t>Never say AI scores the user. AI is not on the request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560"/>
                </a:solidFill>
                <a:latin typeface="Arial"/>
              </a:rPr>
              <a:t>SkillRadar MY · Lumina Nusantara · SDC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F8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F8140"/>
                </a:solidFill>
                <a:latin typeface="Arial"/>
              </a:rPr>
              <a:t>4:35 - 4:50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F4A26"/>
                </a:solidFill>
                <a:latin typeface="Arial"/>
              </a:rPr>
              <a:t>Where AI actually helped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029200" cy="2788920"/>
          </a:xfrm>
          <a:prstGeom prst="rect">
            <a:avLst/>
          </a:prstGeom>
          <a:solidFill>
            <a:srgbClr val="F2F5E9"/>
          </a:solidFill>
          <a:ln>
            <a:solidFill>
              <a:srgbClr val="D8DF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560"/>
                </a:solidFill>
                <a:latin typeface="Arial"/>
              </a:rPr>
              <a:t>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A18"/>
                </a:solidFill>
                <a:latin typeface="Arial"/>
              </a:rPr>
              <a:t>· Terminal, already cd'd into the repo</a:t>
            </a:r>
          </a:p>
          <a:p>
            <a:r>
              <a:rPr sz="1500">
                <a:solidFill>
                  <a:srgbClr val="222A18"/>
                </a:solidFill>
                <a:latin typeface="Arial"/>
              </a:rPr>
              <a:t>· python -m unittest discover -s tests -p "test_*.py"</a:t>
            </a:r>
          </a:p>
          <a:p>
            <a:r>
              <a:rPr sz="1500">
                <a:solidFill>
                  <a:srgbClr val="222A18"/>
                </a:solidFill>
                <a:latin typeface="Arial"/>
              </a:rPr>
              <a:t>· let it finish: 54 tests, OK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874519"/>
            <a:ext cx="57607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B7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7FA6"/>
                </a:solidFill>
                <a:latin typeface="Arial"/>
              </a:rPr>
              <a:t>SAY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7744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222A18"/>
                </a:solidFill>
                <a:latin typeface="Arial"/>
              </a:rPr>
              <a:t>“AI tools were used to write this code - DeepSeek, Copilot, Codex. Every change was read, run and tested before it was kept: that run is 54 automated tests, all passing.”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60"/>
                </a:solidFill>
                <a:latin typeface="Arial"/>
              </a:rPr>
              <a:t>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B7FA6"/>
                </a:solidFill>
                <a:latin typeface="Arial"/>
                <a:hlinkClick r:id="rId2"/>
              </a:rPr>
              <a:t>tests folder</a:t>
            </a:r>
          </a:p>
          <a:p>
            <a:r>
              <a:rPr sz="1200">
                <a:solidFill>
                  <a:srgbClr val="5B7FA6"/>
                </a:solidFill>
                <a:latin typeface="Arial"/>
                <a:hlinkClick r:id="rId3"/>
              </a:rPr>
              <a:t>Technical Declaration, section 4.3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5074920"/>
            <a:ext cx="3291840" cy="1005840"/>
          </a:xfrm>
          <a:prstGeom prst="rect">
            <a:avLst/>
          </a:prstGeom>
          <a:solidFill>
            <a:srgbClr val="FBF4E4"/>
          </a:solidFill>
          <a:ln>
            <a:solidFill>
              <a:srgbClr val="E6D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100">
                <a:solidFill>
                  <a:srgbClr val="7A5A1E"/>
                </a:solidFill>
                <a:latin typeface="Arial"/>
              </a:rPr>
              <a:t>Clear the terminal first (cls). No personal paths on screen.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560"/>
                </a:solidFill>
                <a:latin typeface="Arial"/>
              </a:rPr>
              <a:t>SkillRadar MY · Lumina Nusantara · SDC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F8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F8140"/>
                </a:solidFill>
                <a:latin typeface="Arial"/>
              </a:rPr>
              <a:t>4:50 - 5:00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F4A26"/>
                </a:solidFill>
                <a:latin typeface="Arial"/>
              </a:rPr>
              <a:t>Replit and RunPod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029200" cy="2788920"/>
          </a:xfrm>
          <a:prstGeom prst="rect">
            <a:avLst/>
          </a:prstGeom>
          <a:solidFill>
            <a:srgbClr val="F2F5E9"/>
          </a:solidFill>
          <a:ln>
            <a:solidFill>
              <a:srgbClr val="D8DF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560"/>
                </a:solidFill>
                <a:latin typeface="Arial"/>
              </a:rPr>
              <a:t>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A18"/>
                </a:solidFill>
                <a:latin typeface="Arial"/>
              </a:rPr>
              <a:t>· PDF viewer: submission/REPLIT PROOF OF USE.pdf</a:t>
            </a:r>
          </a:p>
          <a:p>
            <a:r>
              <a:rPr sz="1500">
                <a:solidFill>
                  <a:srgbClr val="222A18"/>
                </a:solidFill>
                <a:latin typeface="Arial"/>
              </a:rPr>
              <a:t>· scroll one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874519"/>
            <a:ext cx="57607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B7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7FA6"/>
                </a:solidFill>
                <a:latin typeface="Arial"/>
              </a:rPr>
              <a:t>SAY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7744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222A18"/>
                </a:solidFill>
                <a:latin typeface="Arial"/>
              </a:rPr>
              <a:t>“Replit was our development workspace; the screenshots are in the submission folder. RunPod is not used - there is no GPU endpoint in this project, and the Technical Declaration says so.”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60"/>
                </a:solidFill>
                <a:latin typeface="Arial"/>
              </a:rPr>
              <a:t>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B7FA6"/>
                </a:solidFill>
                <a:latin typeface="Arial"/>
                <a:hlinkClick r:id="rId2"/>
              </a:rPr>
              <a:t>Replit proof</a:t>
            </a:r>
          </a:p>
          <a:p>
            <a:r>
              <a:rPr sz="1200">
                <a:solidFill>
                  <a:srgbClr val="5B7FA6"/>
                </a:solidFill>
                <a:latin typeface="Arial"/>
                <a:hlinkClick r:id="rId3"/>
              </a:rPr>
              <a:t>Technical Declaration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5074920"/>
            <a:ext cx="3291840" cy="1005840"/>
          </a:xfrm>
          <a:prstGeom prst="rect">
            <a:avLst/>
          </a:prstGeom>
          <a:solidFill>
            <a:srgbClr val="FBF4E4"/>
          </a:solidFill>
          <a:ln>
            <a:solidFill>
              <a:srgbClr val="E6D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100">
                <a:solidFill>
                  <a:srgbClr val="7A5A1E"/>
                </a:solidFill>
                <a:latin typeface="Arial"/>
              </a:rPr>
              <a:t>Say used / not used in one breath. Do not explain why RunPod is unused.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560"/>
                </a:solidFill>
                <a:latin typeface="Arial"/>
              </a:rPr>
              <a:t>SkillRadar MY · Lumina Nusantara · SDC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F8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F8140"/>
                </a:solidFill>
                <a:latin typeface="Arial"/>
              </a:rPr>
              <a:t>5:00 - 5:20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F4A26"/>
                </a:solidFill>
                <a:latin typeface="Arial"/>
              </a:rPr>
              <a:t>SDG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029200" cy="2788920"/>
          </a:xfrm>
          <a:prstGeom prst="rect">
            <a:avLst/>
          </a:prstGeom>
          <a:solidFill>
            <a:srgbClr val="F2F5E9"/>
          </a:solidFill>
          <a:ln>
            <a:solidFill>
              <a:srgbClr val="D8DF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560"/>
                </a:solidFill>
                <a:latin typeface="Arial"/>
              </a:rPr>
              <a:t>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A18"/>
                </a:solidFill>
                <a:latin typeface="Arial"/>
              </a:rPr>
              <a:t>· App, scroll to the SDG section</a:t>
            </a:r>
          </a:p>
          <a:p>
            <a:r>
              <a:rPr sz="1500">
                <a:solidFill>
                  <a:srgbClr val="222A18"/>
                </a:solidFill>
                <a:latin typeface="Arial"/>
              </a:rPr>
              <a:t>· point at the skill-level tags, not the big icons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874519"/>
            <a:ext cx="57607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B7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7FA6"/>
                </a:solidFill>
                <a:latin typeface="Arial"/>
              </a:rPr>
              <a:t>SAY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7744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222A18"/>
                </a:solidFill>
                <a:latin typeface="Arial"/>
              </a:rPr>
              <a:t>“The track is SDG 4, sub-target 4.4 - skills for employment - with 8.5 as the second target. The mapping goes down to individual skills, and we label it as our own reading, not an official UN mapping.”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60"/>
                </a:solidFill>
                <a:latin typeface="Arial"/>
              </a:rPr>
              <a:t>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B7FA6"/>
                </a:solidFill>
                <a:latin typeface="Arial"/>
                <a:hlinkClick r:id="rId2"/>
              </a:rPr>
              <a:t>skills_sdg.json (54 skills)</a:t>
            </a:r>
          </a:p>
          <a:p>
            <a:r>
              <a:rPr sz="1200">
                <a:solidFill>
                  <a:srgbClr val="5B7FA6"/>
                </a:solidFill>
                <a:latin typeface="Arial"/>
                <a:hlinkClick r:id="rId3"/>
              </a:rPr>
              <a:t>README, SDG row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5074920"/>
            <a:ext cx="3291840" cy="1005840"/>
          </a:xfrm>
          <a:prstGeom prst="rect">
            <a:avLst/>
          </a:prstGeom>
          <a:solidFill>
            <a:srgbClr val="FBF4E4"/>
          </a:solidFill>
          <a:ln>
            <a:solidFill>
              <a:srgbClr val="E6D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100">
                <a:solidFill>
                  <a:srgbClr val="7A5A1E"/>
                </a:solidFill>
                <a:latin typeface="Arial"/>
              </a:rPr>
              <a:t>Point at the skill chips. Icon-only is explicitly not enough.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560"/>
                </a:solidFill>
                <a:latin typeface="Arial"/>
              </a:rPr>
              <a:t>SkillRadar MY · Lumina Nusantara · SDC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F8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F8140"/>
                </a:solidFill>
                <a:latin typeface="Arial"/>
              </a:rPr>
              <a:t>5:20 - 5:40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F4A26"/>
                </a:solidFill>
                <a:latin typeface="Arial"/>
              </a:rPr>
              <a:t>What we tested,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029200" cy="2788920"/>
          </a:xfrm>
          <a:prstGeom prst="rect">
            <a:avLst/>
          </a:prstGeom>
          <a:solidFill>
            <a:srgbClr val="F2F5E9"/>
          </a:solidFill>
          <a:ln>
            <a:solidFill>
              <a:srgbClr val="D8DF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560"/>
                </a:solidFill>
                <a:latin typeface="Arial"/>
              </a:rPr>
              <a:t>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A18"/>
                </a:solidFill>
                <a:latin typeface="Arial"/>
              </a:rPr>
              <a:t>· App: the source-robustness table</a:t>
            </a:r>
          </a:p>
          <a:p>
            <a:r>
              <a:rPr sz="1500">
                <a:solidFill>
                  <a:srgbClr val="222A18"/>
                </a:solidFill>
                <a:latin typeface="Arial"/>
              </a:rPr>
              <a:t>· or the terminal still showing the test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874519"/>
            <a:ext cx="57607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B7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7FA6"/>
                </a:solidFill>
                <a:latin typeface="Arial"/>
              </a:rPr>
              <a:t>SAY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7744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222A18"/>
                </a:solidFill>
                <a:latin typeface="Arial"/>
              </a:rPr>
              <a:t>“What we tested: 54 automated tests, every flow in three languages on synthetic profiles, and 60 course links checked as reachable. What we have not done: a user study. Phase 2 targets ten testers, a median plan under five minutes, and 70% rating a top-three role at least 4 out of 5. Targets, not results.”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60"/>
                </a:solidFill>
                <a:latin typeface="Arial"/>
              </a:rPr>
              <a:t>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B7FA6"/>
                </a:solidFill>
                <a:latin typeface="Arial"/>
                <a:hlinkClick r:id="rId2"/>
              </a:rPr>
              <a:t>courses.json (60 links)</a:t>
            </a:r>
          </a:p>
          <a:p>
            <a:r>
              <a:rPr sz="1200">
                <a:solidFill>
                  <a:srgbClr val="5B7FA6"/>
                </a:solidFill>
                <a:latin typeface="Arial"/>
                <a:hlinkClick r:id="rId3"/>
              </a:rPr>
              <a:t>sample_cv.txt (synthetic)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5074920"/>
            <a:ext cx="3291840" cy="1005840"/>
          </a:xfrm>
          <a:prstGeom prst="rect">
            <a:avLst/>
          </a:prstGeom>
          <a:solidFill>
            <a:srgbClr val="FBF4E4"/>
          </a:solidFill>
          <a:ln>
            <a:solidFill>
              <a:srgbClr val="E6D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100">
                <a:solidFill>
                  <a:srgbClr val="7A5A1E"/>
                </a:solidFill>
                <a:latin typeface="Arial"/>
              </a:rPr>
              <a:t>Keep the last sentence: targets, not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560"/>
                </a:solidFill>
                <a:latin typeface="Arial"/>
              </a:rPr>
              <a:t>SkillRadar MY · Lumina Nusantara · SDC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F8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F8140"/>
                </a:solidFill>
                <a:latin typeface="Arial"/>
              </a:rPr>
              <a:t>5:40 - 6:00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F4A26"/>
                </a:solidFill>
                <a:latin typeface="Arial"/>
              </a:rPr>
              <a:t>Limits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029200" cy="2788920"/>
          </a:xfrm>
          <a:prstGeom prst="rect">
            <a:avLst/>
          </a:prstGeom>
          <a:solidFill>
            <a:srgbClr val="F2F5E9"/>
          </a:solidFill>
          <a:ln>
            <a:solidFill>
              <a:srgbClr val="D8DF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560"/>
                </a:solidFill>
                <a:latin typeface="Arial"/>
              </a:rPr>
              <a:t>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A18"/>
                </a:solidFill>
                <a:latin typeface="Arial"/>
              </a:rPr>
              <a:t>· README, Known limitations</a:t>
            </a:r>
          </a:p>
          <a:p>
            <a:r>
              <a:rPr sz="1500">
                <a:solidFill>
                  <a:srgbClr val="222A18"/>
                </a:solidFill>
                <a:latin typeface="Arial"/>
              </a:rPr>
              <a:t>· or the last slide of the deck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874519"/>
            <a:ext cx="576072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B7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7FA6"/>
                </a:solidFill>
                <a:latin typeface="Arial"/>
              </a:rPr>
              <a:t>SAY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7744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222A18"/>
                </a:solidFill>
                <a:latin typeface="Arial"/>
              </a:rPr>
              <a:t>“Known limits: the occupation-to-skill mapping is our heuristic, one quarter is not a trend, course fees are unverified, and the parser misses synonyms. Next: verified course metadata, semantic CV parsing, and the user pilot. Everything planned is labelled as planned.”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60"/>
                </a:solidFill>
                <a:latin typeface="Arial"/>
              </a:rPr>
              <a:t>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B7FA6"/>
                </a:solidFill>
                <a:latin typeface="Arial"/>
                <a:hlinkClick r:id="rId2"/>
              </a:rPr>
              <a:t>README, limitations</a:t>
            </a:r>
          </a:p>
          <a:p>
            <a:r>
              <a:rPr sz="1200">
                <a:solidFill>
                  <a:srgbClr val="5B7FA6"/>
                </a:solidFill>
                <a:latin typeface="Arial"/>
                <a:hlinkClick r:id="rId3"/>
              </a:rPr>
              <a:t>Deck, slide 9 (roadmap)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5074920"/>
            <a:ext cx="3291840" cy="1005840"/>
          </a:xfrm>
          <a:prstGeom prst="rect">
            <a:avLst/>
          </a:prstGeom>
          <a:solidFill>
            <a:srgbClr val="FBF4E4"/>
          </a:solidFill>
          <a:ln>
            <a:solidFill>
              <a:srgbClr val="E6D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100">
                <a:solidFill>
                  <a:srgbClr val="7A5A1E"/>
                </a:solidFill>
                <a:latin typeface="Arial"/>
              </a:rPr>
              <a:t>Close on the product, not on the caveats.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560"/>
                </a:solidFill>
                <a:latin typeface="Arial"/>
              </a:rPr>
              <a:t>SkillRadar MY · Lumina Nusantara · SDC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