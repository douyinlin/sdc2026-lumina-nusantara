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README.md" TargetMode="External"/><Relationship Id="rId3" Type="http://schemas.openxmlformats.org/officeDocument/2006/relationships/hyperlink" Target="https://github.com/douyinlin/sdc2026-lumina-nusantara/blob/main/data/trends/dosm_q2_2026.json" TargetMode="External"/><Relationship Id="rId4" Type="http://schemas.openxmlformats.org/officeDocument/2006/relationships/hyperlink" Target="https://github.com/douyinlin/sdc2026-lumina-nusantara/blob/main/data/trends/wef_future_jobs_2025.js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rc/utils.py" TargetMode="External"/><Relationship Id="rId3" Type="http://schemas.openxmlformats.org/officeDocument/2006/relationships/hyperlink" Target="https://github.com/douyinlin/sdc2026-lumina-nusantara/blob/main/src/cv.py" TargetMode="External"/><Relationship Id="rId4" Type="http://schemas.openxmlformats.org/officeDocument/2006/relationships/hyperlink" Target="https://github.com/douyinlin/sdc2026-lumina-nusantara/blob/main/src/trends.p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tree/main/tests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submission/REPLIT%20PROOF%20OF%20USE.pdf" TargetMode="External"/><Relationship Id="rId3" Type="http://schemas.openxmlformats.org/officeDocument/2006/relationships/hyperlink" Target="https://github.com/douyinlin/sdc2026-lumina-nusantara/blob/main/submission/SDC2026_LuminaNusantara_TechDeclaratio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ata/skills_sdg.json" TargetMode="External"/><Relationship Id="rId3" Type="http://schemas.openxmlformats.org/officeDocument/2006/relationships/hyperlink" Target="https://github.com/douyinlin/sdc2026-lumina-nusantara/blob/main/READM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data/courses.json" TargetMode="External"/><Relationship Id="rId3" Type="http://schemas.openxmlformats.org/officeDocument/2006/relationships/hyperlink" Target="https://github.com/douyinlin/sdc2026-lumina-nusantara/blob/main/data/sample_cv.tx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uyinlin/sdc2026-lumina-nusantara/blob/main/README.md" TargetMode="External"/><Relationship Id="rId3" Type="http://schemas.openxmlformats.org/officeDocument/2006/relationships/hyperlink" Target="https://github.com/douyinlin/sdc2026-lumina-nusantara/blob/main/submission/SDC2026_LuminaNusantara_SlideDeck.ppt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GitHub README, Data sources table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then data/trends/dosm_q2_2026.json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stop on source_url, latest_released, extraction_note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“Three sources, kept separate. DOSM publishes advertised vacancies by occupation - we transcribe the counts by hand and keep the link, the date and a note on what it cannot support, inside the JSON itself.”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README data sources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dosm_q2_2026.json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4"/>
              </a:rPr>
              <a:t>wef_future_jobs_2025.json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Hold 2 seconds on extraction_note - it is the honesty proof.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What the program does, what the AI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App results page - point at the score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then src/utils.py - the scoring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“The running application has no model. Parsing is keyword matching, scoring is five weighted rules in this file, and the pathway is a lookup over a curated catalogue. Same profile, same answer, every time - and every point is explainable.”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src/utils.py (scoring)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src/cv.py (parsing)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4"/>
              </a:rPr>
              <a:t>src/trends.py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Never say AI scores the user. AI is not on the request path.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Where AI actually helped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Terminal, already cd'd into the repo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python -m unittest discover -s tests -p "test_*.py"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let it finish: 54 tests, OK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“AI tools were used to write this code - DeepSeek, Copilot, Codex. Every change was read, run and tested before it was kept: that run is 54 automated tests, all passing.”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tests folder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Technical Declaration 4.3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Clear the terminal first (cls). No personal paths on screen.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Replit and RunPod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PDF viewer: submission/REPLIT PROOF OF USE.pdf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scroll one page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“Replit was our development workspace; the screenshots are in the submission folder. RunPod is not used - there is no GPU endpoint in this project, and the Technical Declaration says so.”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Replit proof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Technical Declaration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Say used / not used in one breath. Do not explain why RunPod is unused.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SDG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App, scroll to the SDG section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point at the skill-level tags, not the big icons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“The track is SDG 4, sub-target 4.4 - skills for employment - with 8.5 as the second target. The mapping goes down to individual skills, and we label it as our own reading, not an official UN mapping.”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skills_sdg.json (54 skills)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README, SDG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Point at the skill chips. Icon-only is explicitly not enough.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What we tested,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App: the source-robustness table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or the terminal still showing the test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“What we tested: 54 automated tests, every flow in three languages on synthetic profiles, and 60 course links checked as reachable. What we have not done: a user study. Phase 2 targets ten testers, a median plan under five minutes, and 70% rating a top-three role at least 4 out of 5. Targets, not results.”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courses.json (60 links)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sample_cv.txt (synthetic)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Keep the last sentence: targets, not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6F8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F4A26"/>
                </a:solidFill>
                <a:latin typeface="Arial"/>
              </a:rPr>
              <a:t>Limits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5029200" cy="2971800"/>
          </a:xfrm>
          <a:prstGeom prst="rect">
            <a:avLst/>
          </a:prstGeom>
          <a:solidFill>
            <a:srgbClr val="F2F5E9"/>
          </a:solidFill>
          <a:ln>
            <a:solidFill>
              <a:srgbClr val="D8DF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560"/>
                </a:solidFill>
                <a:latin typeface="Arial"/>
              </a:rPr>
              <a:t>ON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A18"/>
                </a:solidFill>
                <a:latin typeface="Arial"/>
              </a:rPr>
              <a:t>· README, Known limitations</a:t>
            </a:r>
          </a:p>
          <a:p>
            <a:r>
              <a:rPr sz="1600">
                <a:solidFill>
                  <a:srgbClr val="222A18"/>
                </a:solidFill>
                <a:latin typeface="Arial"/>
              </a:rPr>
              <a:t>· or the last slide of the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7880" y="1600200"/>
            <a:ext cx="5760720" cy="2971800"/>
          </a:xfrm>
          <a:prstGeom prst="rect">
            <a:avLst/>
          </a:prstGeom>
          <a:solidFill>
            <a:srgbClr val="FFFFFF"/>
          </a:solidFill>
          <a:ln>
            <a:solidFill>
              <a:srgbClr val="B7C9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7556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7FA6"/>
                </a:solidFill>
                <a:latin typeface="Arial"/>
              </a:rPr>
              <a:t>SAY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48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222A18"/>
                </a:solidFill>
                <a:latin typeface="Arial"/>
              </a:rPr>
              <a:t>“Known limits: the occupation-to-skill mapping is our heuristic, one quarter is not a trend, course fees are unverified, and the parser misses synonyms. Next: verified course metadata, semantic CV parsing, and the user pilot. Everything planned is labelled as planned.”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B7560"/>
                </a:solidFill>
                <a:latin typeface="Arial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B7FA6"/>
                </a:solidFill>
                <a:latin typeface="Arial"/>
                <a:hlinkClick r:id="rId2"/>
              </a:rPr>
              <a:t>README, limitations</a:t>
            </a:r>
          </a:p>
          <a:p>
            <a:r>
              <a:rPr sz="1300">
                <a:solidFill>
                  <a:srgbClr val="5B7FA6"/>
                </a:solidFill>
                <a:latin typeface="Arial"/>
                <a:hlinkClick r:id="rId3"/>
              </a:rPr>
              <a:t>Deck, roadmap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5029200"/>
            <a:ext cx="3291840" cy="1051560"/>
          </a:xfrm>
          <a:prstGeom prst="rect">
            <a:avLst/>
          </a:prstGeom>
          <a:solidFill>
            <a:srgbClr val="FBF4E4"/>
          </a:solidFill>
          <a:ln>
            <a:solidFill>
              <a:srgbClr val="E6D3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>
                <a:solidFill>
                  <a:srgbClr val="7A5A1E"/>
                </a:solidFill>
                <a:latin typeface="Arial"/>
              </a:rPr>
              <a:t>Close on the product, not on the caveats.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560"/>
                </a:solidFill>
                <a:latin typeface="Arial"/>
              </a:rPr>
              <a:t>SkillRadar MY · Lumina Nusantara · SDC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