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notesMasterIdLst>
    <p:notesMasterId r:id="rId24"/>
  </p:notesMasterIdLst>
  <p:sldSz cx="12192000" cy="6858000" type="custom"/>
  <p:notesSz cx="12192000" cy="6858000"/>
  <p:embeddedFontLst>
    <p:embeddedFont>
      <p:font typeface="Mi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font" Target="fonts/font1.fntdata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Source: SkillRadar MY live demo, https://sdc2026-lumina-nusantara-65cnugvuxdle5dgp9ky3fs.streamlit.app (captured 2026-10-24).</a:t>
            </a:r>
          </a:p>
          <a:p>
            <a:r>
              <a:rPr lang="en-US" sz="1200" noProof="1"/>
              <a:t>The site opens with three entry points: jobseeker (working adult at risk of displacement, or fresh graduate / final-year student), HR / L&amp;D manager, and career centre / TVET.</a:t>
            </a:r>
          </a:p>
          <a:p>
            <a:r>
              <a:rPr lang="en-US" sz="1200" noProof="1"/>
              <a:t>Jobseeker intake supports two ways to build a skills profile: Option A uploads a synthetic CV (PDF/TXT/MD; scanned image-only PDFs are not OCR'd), Option B ticks skills by category.</a:t>
            </a:r>
          </a:p>
          <a:p>
            <a:r>
              <a:rPr lang="en-US" sz="1200" noProof="1"/>
              <a:t>Skill categories shown in the app include Office &amp; Data, Tech &amp; AI, Customer &amp; Operations, People &amp; Management, Communication &amp; Language, Finance &amp; Accounting, Sales &amp; Marketing, Design &amp; Creative, Engineering &amp; Built Environment, Manufacturing &amp; Logistics, Health Care &amp; Education, Legal Compliance &amp; Admin.</a:t>
            </a:r>
          </a:p>
          <a:p>
            <a:r>
              <a:rPr lang="en-US" sz="1200" noProof="1"/>
              <a:t>Demo limits: Aisyah, Daniel and Farid are fictional synthetic demo profiles created for this demo; the three CVs illustrate career-stage differences in matching logic and are NOT a representative sample of all jobseekers. No accuracy statistics are implied.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Reproduce this run: open the site, enter, choose "Start as jobseeker", select radio "Fresh graduate / final-year student" (all other fields left at site defaults: target field "All fields / explore a career change", 6 years experience, move "As soon as possible", 8 study hours/week, budget "Free / under RM300"), upload resume_01_early_career.pdf (synthetic file), click "Use these skills", then "See my future-role matches".</a:t>
            </a:r>
          </a:p>
          <a:p>
            <a:r>
              <a:rPr lang="en-US" sz="1200" noProof="1"/>
              <a:t>Site output actually observed (2026-10-24): profile parsed as basic statistics, communication, content, data visualisation, excel, presentation, prompt engineering, python, reporting, research, sql — "Bachelor's degree in — · 0 month(s) of internship". The results panel stated "Showing only roles in your field (Business Administration) — 8 matching roles in the catalogue."</a:t>
            </a:r>
          </a:p>
          <a:p>
            <a:r>
              <a:rPr lang="en-US" sz="1200" noProof="1"/>
              <a:t>Top match: Business Operations Associate 77.3/100 (weighted skill coverage 100%, role focus 27%, transferability 100%, demand trend 70%, gap cost 0%); "you already meet every requirement — the pathway below is depth, not a gap." Runner-ups: Process Automation Lead 44.3, Accounts Executive 43.4, Customer Success Analyst 40.1.</a:t>
            </a:r>
          </a:p>
          <a:p>
            <a:r>
              <a:rPr lang="en-US" sz="1200" noProof="1"/>
              <a:t>Pathway panel: "You cover every skill for this role" — no gap to close; next-level depth steps shown with catalogue durations (basic statistics 3 weeks, communication 5 weeks, excel 1 week), each labelled "Existing catalogue estimate; duration needs verification". Malaysia demand note on the card: moderate — "Business and finance graduates are the largest group affected by skills mismatch with modern roles" (graduate-jobs-mismatch commentary 2025-10-09).</a:t>
            </a:r>
          </a:p>
          <a:p>
            <a:r>
              <a:rPr lang="en-US" sz="1200" noProof="1"/>
              <a:t>Important distinction for judges: Junior Data Analyst / Reporting Analyst are the roles Aisyah's CV says she wants; the site's recommended roles are the list above. The two must not be merged.</a:t>
            </a:r>
          </a:p>
          <a:p>
            <a:r>
              <a:rPr lang="en-US" sz="1200" noProof="1"/>
              <a:t>Demo limits: synthetic profile; scores are the site's own prototype estimates, not hiring probabilities; no accuracy claim is made.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Reproduce this run: jobseeker flow, radio "Working adult / at risk of displacement" (site default), years of experience set to 8, study hours set to 6; target field, urgency and budget left at site defaults ("All fields / explore a career change", "As soon as possible", "Free / under RM300"); upload resume_02_mid_career.pdf (synthetic), "Use these skills", "See my future-role matches".</a:t>
            </a:r>
          </a:p>
          <a:p>
            <a:r>
              <a:rPr lang="en-US" sz="1200" noProof="1"/>
              <a:t>Site output actually observed (2026-10-24): parsed skills communication, content, crm administration, customer support, excel, process improvement, reporting, sql, team lead — profile line "Working adult · 8 years of experience · target: As soon as possible".</a:t>
            </a:r>
          </a:p>
          <a:p>
            <a:r>
              <a:rPr lang="en-US" sz="1200" noProof="1"/>
              <a:t>Top match: Data Steward 58.1/100 (weighted coverage 73%, role focus 22%, transferability 70%, demand trend 70%, gap cost 35%). "This role needs 3 skills; you already have 2" — excel, sql; to close: data visualisation (important). Pathway shown: gap step data visualisation about 30 weeks at 6 h/week; full route 42 weeks (data visualisation 30, basic statistics 5, inventory 7). After-plan recalculation: 78.2 (+20.1), labelled by the site as a hypothetical estimate, not an employment outcome. Evidence note on the card: "The report names data analytics as an area of concentrated demand", plus a Malaysia demand note citing PIKOM Economic &amp; Digital Job Market Outlook 2025 (high shortage of ICT talent). Runner-ups: Customer Success Analyst 57.2, Business Operations Associate 57.1, Guest Experience Analyst 53.4.</a:t>
            </a:r>
          </a:p>
          <a:p>
            <a:r>
              <a:rPr lang="en-US" sz="1200" noProof="1"/>
              <a:t>Distinction for judges: Customer Success Analytics / Business Operations are the directions Daniel's CV states; the site ranked Data Steward first and Customer Success Analyst second. Do not present the CV's targets as the site's output.</a:t>
            </a:r>
          </a:p>
          <a:p>
            <a:r>
              <a:rPr lang="en-US" sz="1200" noProof="1"/>
              <a:t>Demo limits: synthetic profile; scores are prototype estimates, not hiring probabilities.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Reproduce this run: jobseeker flow, radio "Working adult / at risk of displacement" (site default), years of experience set to 8, study hours set to 5; target field, urgency and budget left at site defaults ("All fields / explore a career change", "As soon as possible", "Free / under RM300"); upload resume_03_senior_lead.pdf (synthetic), "Use these skills", "See my future-role matches".</a:t>
            </a:r>
          </a:p>
          <a:p>
            <a:r>
              <a:rPr lang="en-US" sz="1200" noProof="1"/>
              <a:t>Site output actually observed (2026-10-24): parsed skills coaching, communication, content, documentation, product management, python, reporting, sql, stakeholder management — profile line "Working adult · 8 years of experience · target: As soon as possible".</a:t>
            </a:r>
          </a:p>
          <a:p>
            <a:r>
              <a:rPr lang="en-US" sz="1200" noProof="1"/>
              <a:t>Top match: Machine Learning Engineer 45.8/100 (weighted coverage 62%, role focus 22%, transferability 40%, demand trend 90%, gap cost 85%). "This role needs 3 skills; you already have 2" — python, sql; to close: machine learning (core). Gap step about 1 week at 5 h/week; full route shown: 5 weeks (machine learning 1, clinic admin 2, counselling 2). After-plan recalculation: 79.8 (+34.0), labelled by the site as a hypothetical estimate, not an employment outcome. Evidence note: applied AI named as concentrated demand; Malaysia demand note cites PIKOM Economic &amp; Digital Job Market Outlook 2025 (high shortage of ICT talent). Runners-up: Health Informatics Officer 45.8 (tied score, ranked second), Student Success Adviser 44.1, Guest Experience Analyst 43.3.</a:t>
            </a:r>
          </a:p>
          <a:p>
            <a:r>
              <a:rPr lang="en-US" sz="1200" noProof="1"/>
              <a:t>Distinction for judges: Farid's CV states no target role; the ranking is entirely the site's output. A senior CV does not score high by itself — the model penalises the one missing core requirement (gap cost 85%), which is why the top score stays modest at 45.8/100.</a:t>
            </a:r>
          </a:p>
          <a:p>
            <a:r>
              <a:rPr lang="en-US" sz="1200" noProof="1"/>
              <a:t>Demo limits: synthetic profile; scores are prototype estimates, not hiring probabilities; nothing beyond the displayed fields, scores and gaps is quoted.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Flow as shipped in the demo (jobseeker): describe yourself (situation radio, target field, experience, urgency, study hours, budget) + skills profile (CV upload or category ticks) → future-role matches ranked by an explainable score → pathway duration from weekly study hours.</a:t>
            </a:r>
          </a:p>
          <a:p>
            <a:r>
              <a:rPr lang="en-US" sz="1200" noProof="1"/>
              <a:t>The score card decomposes into five inputs the app itself names: weighted skill coverage, role focus, transferability, demand trend, gap cost (lower is better). The preliminary deck documents the weights: 0.30 coverage + 0.25 role focus + 0.15 transferability + 0.15 demand trend + 0.15 (1 − gap cost); a fast-disruption toggle re-weights toward trend.</a:t>
            </a:r>
          </a:p>
          <a:p>
            <a:r>
              <a:rPr lang="en-US" sz="1200" noProof="1"/>
              <a:t>Honest scope note, stated verbatim in the app under the profile form: "Skills and target field affect matching; weekly study hours affect duration. Experience, urgency and budget are recorded only, not used in scores or course filtering."</a:t>
            </a:r>
          </a:p>
          <a:p>
            <a:r>
              <a:rPr lang="en-US" sz="1200" noProof="1"/>
              <a:t>What these three runs can and cannot show: they demonstrate the matching logic, the evidence trail and how output differs across career stages. Three synthetic profiles cannot demonstrate statistical recommendation accuracy — that would require a larger sample and independent evaluation. No accuracy percentage is claimed anywhere in this deck.</a:t>
            </a:r>
          </a:p>
          <a:p>
            <a:r>
              <a:rPr lang="en-US" sz="1200" noProof="1"/>
              <a:t>All screenshots: SkillRadar MY live demo, captured 2026-10-24, synthetic profiles only, no personal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1.png"/><Relationship Id="rId3" Type="http://schemas.openxmlformats.org/officeDocument/2006/relationships/image" Target="../media/image6_2.png"/><Relationship Id="rId4" Type="http://schemas.openxmlformats.org/officeDocument/2006/relationships/image" Target="../media/image6_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_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1.png"/><Relationship Id="rId3" Type="http://schemas.openxmlformats.org/officeDocument/2006/relationships/image" Target="../media/image8_2.png"/><Relationship Id="rId4" Type="http://schemas.openxmlformats.org/officeDocument/2006/relationships/image" Target="../media/image7_1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_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2.png"/><Relationship Id="rId3" Type="http://schemas.openxmlformats.org/officeDocument/2006/relationships/image" Target="../media/image10_2.png"/><Relationship Id="rId4" Type="http://schemas.openxmlformats.org/officeDocument/2006/relationships/image" Target="../media/image9_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_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3.png"/><Relationship Id="rId3" Type="http://schemas.openxmlformats.org/officeDocument/2006/relationships/image" Target="../media/image12_2.png"/><Relationship Id="rId4" Type="http://schemas.openxmlformats.org/officeDocument/2006/relationships/image" Target="../media/image11_1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_1.png"/><Relationship Id="rId3" Type="http://schemas.openxmlformats.org/officeDocument/2006/relationships/image" Target="../media/image19_2.png"/><Relationship Id="rId4" Type="http://schemas.openxmlformats.org/officeDocument/2006/relationships/image" Target="../media/image19_3.png"/><Relationship Id="rId5" Type="http://schemas.openxmlformats.org/officeDocument/2006/relationships/image" Target="../media/image19_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sdc2026-lumina-nusantara-65cnugvuxdle5dgp9ky3fs.streamlit.app" TargetMode="External"/><Relationship Id="rId3" Type="http://schemas.openxmlformats.org/officeDocument/2006/relationships/hyperlink" Target="https://github.com/douyinlin/sdc2026-lumina-nusantara" TargetMode="Externa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/>
          <a:p/>
        </p:txBody>
      </p:sp>
      <p:sp>
        <p:nvSpPr>
          <p:cNvPr id="4" name="Oval 3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4F81BD"/>
          </a:solidFill>
          <a:ln w="15240">
            <a:solidFill>
              <a:srgbClr val="F2F5E9"/>
            </a:solidFill>
          </a:ln>
        </p:spPr>
        <p:txBody>
          <a:bodyPr/>
          <a:p/>
        </p:txBody>
      </p:sp>
      <p:sp>
        <p:nvSpPr>
          <p:cNvPr id="5" name="Oval 4"/>
          <p:cNvSpPr/>
          <p:nvPr/>
        </p:nvSpPr>
        <p:spPr>
          <a:xfrm>
            <a:off x="10515600" y="-640080"/>
            <a:ext cx="2560320" cy="256032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F2F5E9"/>
            </a:solidFill>
          </a:ln>
        </p:spPr>
        <p:txBody>
          <a:bodyPr/>
          <a:p/>
        </p:txBody>
      </p:sp>
      <p:sp>
        <p:nvSpPr>
          <p:cNvPr id="6" name="Oval 5"/>
          <p:cNvSpPr/>
          <p:nvPr/>
        </p:nvSpPr>
        <p:spPr>
          <a:xfrm>
            <a:off x="840740" y="777240"/>
            <a:ext cx="511810" cy="511810"/>
          </a:xfrm>
          <a:prstGeom prst="ellipse">
            <a:avLst/>
          </a:prstGeom>
          <a:solidFill>
            <a:srgbClr val="4F81BD"/>
          </a:solidFill>
          <a:ln w="27940">
            <a:solidFill>
              <a:srgbClr val="F2F5E9"/>
            </a:solidFill>
          </a:ln>
        </p:spPr>
        <p:txBody>
          <a:bodyPr/>
          <a:p/>
        </p:txBody>
      </p:sp>
      <p:sp>
        <p:nvSpPr>
          <p:cNvPr id="7" name="Diamond 6"/>
          <p:cNvSpPr/>
          <p:nvPr/>
        </p:nvSpPr>
        <p:spPr>
          <a:xfrm>
            <a:off x="994410" y="859790"/>
            <a:ext cx="204470" cy="204470"/>
          </a:xfrm>
          <a:prstGeom prst="diamond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8" name="Oval 7"/>
          <p:cNvSpPr/>
          <p:nvPr/>
        </p:nvSpPr>
        <p:spPr>
          <a:xfrm>
            <a:off x="1066800" y="1002030"/>
            <a:ext cx="60960" cy="60960"/>
          </a:xfrm>
          <a:prstGeom prst="ellipse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1480820" y="86868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 spc="300" kern="0">
                <a:solidFill>
                  <a:srgbClr val="3F4A26"/>
                </a:solidFill>
                <a:latin typeface="Arial"/>
                <a:ea typeface="Arial"/>
              </a:rPr>
              <a:t>SKILLRADAR MY</a:t>
            </a:r>
            <a:endParaRPr lang="en-US" sz="1500" noProof="1"/>
          </a:p>
        </p:txBody>
      </p:sp>
      <p:sp>
        <p:nvSpPr>
          <p:cNvPr id="10" name="TextBox 9"/>
          <p:cNvSpPr txBox="1"/>
          <p:nvPr/>
        </p:nvSpPr>
        <p:spPr>
          <a:xfrm>
            <a:off x="1480820" y="11887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950" noProof="1" b="1" i="0" spc="300" kern="0">
                <a:solidFill>
                  <a:srgbClr val="4B5A2A"/>
                </a:solidFill>
                <a:latin typeface="Arial"/>
                <a:ea typeface="Arial"/>
              </a:rPr>
              <a:t>LUMINA NUSANTARA</a:t>
            </a:r>
            <a:endParaRPr lang="en-US" sz="950" noProof="1"/>
          </a:p>
        </p:txBody>
      </p:sp>
      <p:sp>
        <p:nvSpPr>
          <p:cNvPr id="11" name="TextBox 10"/>
          <p:cNvSpPr txBox="1"/>
          <p:nvPr/>
        </p:nvSpPr>
        <p:spPr>
          <a:xfrm>
            <a:off x="792480" y="23545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00" noProof="1" b="1" i="0" spc="200" kern="0">
                <a:solidFill>
                  <a:srgbClr val="4B5A2A"/>
                </a:solidFill>
                <a:latin typeface="Arial"/>
                <a:ea typeface="Arial"/>
              </a:rPr>
              <a:t>SDC 2026 · DOMAIN 1 — THE AIVERSECITY FUTURE-READY WORKFORCE DOMAIN</a:t>
            </a:r>
            <a:endParaRPr lang="en-US" sz="1100" noProof="1"/>
          </a:p>
        </p:txBody>
      </p:sp>
      <p:sp>
        <p:nvSpPr>
          <p:cNvPr id="12" name="TextBox 11"/>
          <p:cNvSpPr txBox="1"/>
          <p:nvPr/>
        </p:nvSpPr>
        <p:spPr>
          <a:xfrm>
            <a:off x="805180" y="2697480"/>
            <a:ext cx="10702290" cy="13538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4400" noProof="1" b="1" i="0">
                <a:solidFill>
                  <a:srgbClr val="3F4A26"/>
                </a:solidFill>
                <a:latin typeface="Arial"/>
                <a:ea typeface="Arial"/>
              </a:rPr>
              <a:t>From who I am today</a:t>
            </a:r>
            <a:endParaRPr lang="en-US" sz="4400" noProof="1"/>
          </a:p>
          <a:p>
            <a:pPr algn="l">
              <a:lnSpc>
                <a:spcPct val="120000"/>
              </a:lnSpc>
            </a:pPr>
            <a:r>
              <a:rPr lang="en-US" sz="4400" noProof="1" b="1" i="0">
                <a:solidFill>
                  <a:srgbClr val="3F4A26"/>
                </a:solidFill>
                <a:latin typeface="Arial"/>
                <a:ea typeface="Arial"/>
              </a:rPr>
              <a:t>to where I can be in the AI era.</a:t>
            </a:r>
            <a:endParaRPr lang="en-US" sz="4400" noProof="1"/>
          </a:p>
        </p:txBody>
      </p:sp>
      <p:sp>
        <p:nvSpPr>
          <p:cNvPr id="13" name="Rectangle 12"/>
          <p:cNvSpPr/>
          <p:nvPr/>
        </p:nvSpPr>
        <p:spPr>
          <a:xfrm>
            <a:off x="859790" y="4589780"/>
            <a:ext cx="777240" cy="45720"/>
          </a:xfrm>
          <a:prstGeom prst="rect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840740" y="480060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50" noProof="1" i="0">
                <a:solidFill>
                  <a:srgbClr val="4B5A2A"/>
                </a:solidFill>
                <a:latin typeface="Arial"/>
                <a:ea typeface="Arial"/>
              </a:rPr>
              <a:t>Explainable role matching · versioned labour-market signals · personalised reskilling pathways</a:t>
            </a:r>
            <a:endParaRPr lang="en-US" sz="1350" noProof="1"/>
          </a:p>
        </p:txBody>
      </p:sp>
      <p:sp>
        <p:nvSpPr>
          <p:cNvPr id="15" name="Rounded Rectangle 14-shape"/>
          <p:cNvSpPr/>
          <p:nvPr/>
        </p:nvSpPr>
        <p:spPr>
          <a:xfrm>
            <a:off x="840740" y="5532120"/>
            <a:ext cx="1830070" cy="311150"/>
          </a:xfrm>
          <a:prstGeom prst="roundRect">
            <a:avLst>
              <a:gd name="adj" fmla="val 50000"/>
            </a:avLst>
          </a:prstGeom>
          <a:solidFill>
            <a:srgbClr val="4B5A2A"/>
          </a:solidFill>
          <a:ln w="12700">
            <a:solidFill>
              <a:srgbClr val="F2F5E9"/>
            </a:solidFill>
          </a:ln>
        </p:spPr>
        <p:txBody>
          <a:bodyPr/>
          <a:p/>
        </p:txBody>
      </p:sp>
      <p:sp>
        <p:nvSpPr>
          <p:cNvPr id="16" name="Rounded Rectangle 14-text"/>
          <p:cNvSpPr txBox="1"/>
          <p:nvPr/>
        </p:nvSpPr>
        <p:spPr>
          <a:xfrm>
            <a:off x="840740" y="5532120"/>
            <a:ext cx="183007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 i="0">
                <a:solidFill>
                  <a:srgbClr val="F2F5E9"/>
                </a:solidFill>
                <a:latin typeface="Arial"/>
                <a:ea typeface="Arial"/>
              </a:rPr>
              <a:t>TEAM LUMINA NUSANTARA</a:t>
            </a:r>
            <a:endParaRPr lang="en-US" sz="950" noProof="1"/>
          </a:p>
        </p:txBody>
      </p:sp>
      <p:sp>
        <p:nvSpPr>
          <p:cNvPr id="17" name="Rounded Rectangle 15-shape"/>
          <p:cNvSpPr/>
          <p:nvPr/>
        </p:nvSpPr>
        <p:spPr>
          <a:xfrm>
            <a:off x="2800350" y="5532120"/>
            <a:ext cx="2205990" cy="311150"/>
          </a:xfrm>
          <a:prstGeom prst="roundRect">
            <a:avLst>
              <a:gd name="adj" fmla="val 50000"/>
            </a:avLst>
          </a:prstGeom>
          <a:solidFill>
            <a:srgbClr val="4B5A2A"/>
          </a:solidFill>
          <a:ln w="12700">
            <a:solidFill>
              <a:srgbClr val="F2F5E9"/>
            </a:solidFill>
          </a:ln>
        </p:spPr>
        <p:txBody>
          <a:bodyPr/>
          <a:p/>
        </p:txBody>
      </p:sp>
      <p:sp>
        <p:nvSpPr>
          <p:cNvPr id="18" name="Rounded Rectangle 15-text"/>
          <p:cNvSpPr txBox="1"/>
          <p:nvPr/>
        </p:nvSpPr>
        <p:spPr>
          <a:xfrm>
            <a:off x="2800350" y="5532120"/>
            <a:ext cx="220599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 i="0">
                <a:solidFill>
                  <a:srgbClr val="F2F5E9"/>
                </a:solidFill>
                <a:latin typeface="Arial"/>
                <a:ea typeface="Arial"/>
              </a:rPr>
              <a:t>XIAMEN UNIVERSITY MALAYSIA</a:t>
            </a:r>
            <a:endParaRPr lang="en-US" sz="950" noProof="1"/>
          </a:p>
        </p:txBody>
      </p:sp>
      <p:sp>
        <p:nvSpPr>
          <p:cNvPr id="19" name="Rounded Rectangle 16-shape"/>
          <p:cNvSpPr/>
          <p:nvPr/>
        </p:nvSpPr>
        <p:spPr>
          <a:xfrm>
            <a:off x="5133340" y="5532120"/>
            <a:ext cx="2131060" cy="311150"/>
          </a:xfrm>
          <a:prstGeom prst="roundRect">
            <a:avLst>
              <a:gd name="adj" fmla="val 50000"/>
            </a:avLst>
          </a:prstGeom>
          <a:solidFill>
            <a:srgbClr val="7992B1"/>
          </a:solidFill>
          <a:ln>
            <a:noFill/>
          </a:ln>
        </p:spPr>
        <p:txBody>
          <a:bodyPr/>
          <a:p/>
        </p:txBody>
      </p:sp>
      <p:sp>
        <p:nvSpPr>
          <p:cNvPr id="20" name="Rounded Rectangle 16-text"/>
          <p:cNvSpPr txBox="1"/>
          <p:nvPr/>
        </p:nvSpPr>
        <p:spPr>
          <a:xfrm>
            <a:off x="5133340" y="5532120"/>
            <a:ext cx="213106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950" noProof="1" b="1" i="0">
                <a:solidFill>
                  <a:srgbClr val="FFFFFF"/>
                </a:solidFill>
                <a:latin typeface="Arial"/>
                <a:ea typeface="Arial"/>
              </a:rPr>
              <a:t>SDG 4 · TARGETS 4.4 / 8.5</a:t>
            </a:r>
            <a:endParaRPr lang="en-US" sz="950" noProof="1"/>
          </a:p>
        </p:txBody>
      </p:sp>
      <p:sp>
        <p:nvSpPr>
          <p:cNvPr id="21" name="TextBox 17"/>
          <p:cNvSpPr txBox="1"/>
          <p:nvPr/>
        </p:nvSpPr>
        <p:spPr>
          <a:xfrm>
            <a:off x="792480" y="612267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4B5A2A"/>
                </a:solidFill>
                <a:latin typeface="Arial"/>
                <a:ea typeface="Arial"/>
              </a:rPr>
              <a:t>Preliminary-round deck · Live demo on Streamlit Community Cloud</a:t>
            </a:r>
            <a:endParaRPr lang="en-US" sz="1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84074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 · SDC 2026 · SKILLRADAR MY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3291840" cy="1463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4000" noProof="1" b="1" i="0">
                <a:solidFill>
                  <a:srgbClr val="4B5A2A"/>
                </a:solidFill>
                <a:latin typeface="Arial"/>
                <a:ea typeface="Arial"/>
              </a:rPr>
              <a:t>Contents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lang="en-US" sz="1100" noProof="1" b="1" i="0">
                <a:solidFill>
                  <a:srgbClr val="7A8663"/>
                </a:solidFill>
                <a:latin typeface="Arial"/>
                <a:ea typeface="Arial"/>
              </a:rPr>
              <a:t>WHAT'S INSIDE</a:t>
            </a:r>
            <a:endParaRPr lang="en-US" sz="1600" noProof="1"/>
          </a:p>
        </p:txBody>
      </p:sp>
      <p:sp>
        <p:nvSpPr>
          <p:cNvPr id="6" name="Rectangle 5"/>
          <p:cNvSpPr/>
          <p:nvPr/>
        </p:nvSpPr>
        <p:spPr>
          <a:xfrm>
            <a:off x="859790" y="2697480"/>
            <a:ext cx="548640" cy="5080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3108960" cy="21945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i="0">
                <a:solidFill>
                  <a:srgbClr val="62704F"/>
                </a:solidFill>
                <a:latin typeface="Arial"/>
                <a:ea typeface="Arial"/>
              </a:rPr>
              <a:t>An AI-assisted reskilling navigator built on the UN Sustainable Development Goals — led by SDG 4, Quality Education.</a:t>
            </a:r>
            <a:endParaRPr lang="en-US" sz="1250" noProof="1"/>
          </a:p>
        </p:txBody>
      </p:sp>
      <p:sp>
        <p:nvSpPr>
          <p:cNvPr id="8" name="Rectangle 7"/>
          <p:cNvSpPr/>
          <p:nvPr/>
        </p:nvSpPr>
        <p:spPr>
          <a:xfrm>
            <a:off x="4160520" y="914400"/>
            <a:ext cx="12700" cy="49377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4572000" y="96012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01</a:t>
            </a:r>
            <a:endParaRPr lang="en-US" sz="1500" noProof="1"/>
          </a:p>
        </p:txBody>
      </p:sp>
      <p:sp>
        <p:nvSpPr>
          <p:cNvPr id="10" name="TextBox 9"/>
          <p:cNvSpPr txBox="1"/>
          <p:nvPr/>
        </p:nvSpPr>
        <p:spPr>
          <a:xfrm>
            <a:off x="5257800" y="96012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Problem</a:t>
            </a:r>
            <a:endParaRPr lang="en-US" sz="1500" noProof="1"/>
          </a:p>
        </p:txBody>
      </p:sp>
      <p:sp>
        <p:nvSpPr>
          <p:cNvPr id="11" name="TextBox 10"/>
          <p:cNvSpPr txBox="1"/>
          <p:nvPr/>
        </p:nvSpPr>
        <p:spPr>
          <a:xfrm>
            <a:off x="8229600" y="9880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The training gap is widening</a:t>
            </a:r>
            <a:endParaRPr lang="en-US" sz="1050" noProof="1"/>
          </a:p>
        </p:txBody>
      </p:sp>
      <p:sp>
        <p:nvSpPr>
          <p:cNvPr id="12" name="Rectangle 11"/>
          <p:cNvSpPr/>
          <p:nvPr/>
        </p:nvSpPr>
        <p:spPr>
          <a:xfrm>
            <a:off x="4572000" y="143510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02</a:t>
            </a:r>
            <a:endParaRPr lang="en-US" sz="1500" noProof="1"/>
          </a:p>
        </p:txBody>
      </p:sp>
      <p:sp>
        <p:nvSpPr>
          <p:cNvPr id="14" name="TextBox 13"/>
          <p:cNvSpPr txBox="1"/>
          <p:nvPr/>
        </p:nvSpPr>
        <p:spPr>
          <a:xfrm>
            <a:off x="5257800" y="16916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Who we build for</a:t>
            </a:r>
            <a:endParaRPr lang="en-US" sz="1500" noProof="1"/>
          </a:p>
        </p:txBody>
      </p:sp>
      <p:sp>
        <p:nvSpPr>
          <p:cNvPr id="15" name="TextBox 14"/>
          <p:cNvSpPr txBox="1"/>
          <p:nvPr/>
        </p:nvSpPr>
        <p:spPr>
          <a:xfrm>
            <a:off x="8229600" y="17195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Four personas, one question</a:t>
            </a:r>
            <a:endParaRPr lang="en-US" sz="1050" noProof="1"/>
          </a:p>
        </p:txBody>
      </p:sp>
      <p:sp>
        <p:nvSpPr>
          <p:cNvPr id="16" name="Rectangle 15"/>
          <p:cNvSpPr/>
          <p:nvPr/>
        </p:nvSpPr>
        <p:spPr>
          <a:xfrm>
            <a:off x="4572000" y="216662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03</a:t>
            </a:r>
            <a:endParaRPr lang="en-US" sz="1500" noProof="1"/>
          </a:p>
        </p:txBody>
      </p:sp>
      <p:sp>
        <p:nvSpPr>
          <p:cNvPr id="18" name="TextBox 17"/>
          <p:cNvSpPr txBox="1"/>
          <p:nvPr/>
        </p:nvSpPr>
        <p:spPr>
          <a:xfrm>
            <a:off x="5257800" y="242316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Our solution</a:t>
            </a:r>
            <a:endParaRPr lang="en-US" sz="1500" noProof="1"/>
          </a:p>
        </p:txBody>
      </p:sp>
      <p:sp>
        <p:nvSpPr>
          <p:cNvPr id="19" name="TextBox 18"/>
          <p:cNvSpPr txBox="1"/>
          <p:nvPr/>
        </p:nvSpPr>
        <p:spPr>
          <a:xfrm>
            <a:off x="8229600" y="245110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Four steps to a new role</a:t>
            </a:r>
            <a:endParaRPr lang="en-US" sz="1050" noProof="1"/>
          </a:p>
        </p:txBody>
      </p:sp>
      <p:sp>
        <p:nvSpPr>
          <p:cNvPr id="20" name="Rectangle 19"/>
          <p:cNvSpPr/>
          <p:nvPr/>
        </p:nvSpPr>
        <p:spPr>
          <a:xfrm>
            <a:off x="4572000" y="289814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1" name="TextBox 20"/>
          <p:cNvSpPr txBox="1"/>
          <p:nvPr/>
        </p:nvSpPr>
        <p:spPr>
          <a:xfrm>
            <a:off x="4572000" y="31546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04</a:t>
            </a:r>
            <a:endParaRPr lang="en-US" sz="1500" noProof="1"/>
          </a:p>
        </p:txBody>
      </p:sp>
      <p:sp>
        <p:nvSpPr>
          <p:cNvPr id="22" name="TextBox 21"/>
          <p:cNvSpPr txBox="1"/>
          <p:nvPr/>
        </p:nvSpPr>
        <p:spPr>
          <a:xfrm>
            <a:off x="5257800" y="31546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Key features</a:t>
            </a:r>
            <a:endParaRPr lang="en-US" sz="1500" noProof="1"/>
          </a:p>
        </p:txBody>
      </p:sp>
      <p:sp>
        <p:nvSpPr>
          <p:cNvPr id="23" name="TextBox 22"/>
          <p:cNvSpPr txBox="1"/>
          <p:nvPr/>
        </p:nvSpPr>
        <p:spPr>
          <a:xfrm>
            <a:off x="8229600" y="318262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The six must-haves, delivered</a:t>
            </a:r>
            <a:endParaRPr lang="en-US" sz="1050" noProof="1"/>
          </a:p>
        </p:txBody>
      </p:sp>
      <p:sp>
        <p:nvSpPr>
          <p:cNvPr id="24" name="Rectangle 23"/>
          <p:cNvSpPr/>
          <p:nvPr/>
        </p:nvSpPr>
        <p:spPr>
          <a:xfrm>
            <a:off x="4572000" y="362966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5" name="TextBox 24"/>
          <p:cNvSpPr txBox="1"/>
          <p:nvPr/>
        </p:nvSpPr>
        <p:spPr>
          <a:xfrm>
            <a:off x="4572000" y="388620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05</a:t>
            </a:r>
            <a:endParaRPr lang="en-US" sz="1500" noProof="1"/>
          </a:p>
        </p:txBody>
      </p:sp>
      <p:sp>
        <p:nvSpPr>
          <p:cNvPr id="26" name="TextBox 25"/>
          <p:cNvSpPr txBox="1"/>
          <p:nvPr/>
        </p:nvSpPr>
        <p:spPr>
          <a:xfrm>
            <a:off x="5257800" y="38862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Explainable scoring</a:t>
            </a:r>
            <a:endParaRPr lang="en-US" sz="1500" noProof="1"/>
          </a:p>
        </p:txBody>
      </p:sp>
      <p:sp>
        <p:nvSpPr>
          <p:cNvPr id="27" name="TextBox 26"/>
          <p:cNvSpPr txBox="1"/>
          <p:nvPr/>
        </p:nvSpPr>
        <p:spPr>
          <a:xfrm>
            <a:off x="8229600" y="391414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Five inputs, fully auditable</a:t>
            </a:r>
            <a:endParaRPr lang="en-US" sz="1050" noProof="1"/>
          </a:p>
        </p:txBody>
      </p:sp>
      <p:sp>
        <p:nvSpPr>
          <p:cNvPr id="28" name="Rectangle 27"/>
          <p:cNvSpPr/>
          <p:nvPr/>
        </p:nvSpPr>
        <p:spPr>
          <a:xfrm>
            <a:off x="4572000" y="436118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9" name="TextBox 28"/>
          <p:cNvSpPr txBox="1"/>
          <p:nvPr/>
        </p:nvSpPr>
        <p:spPr>
          <a:xfrm>
            <a:off x="4572000" y="461772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06</a:t>
            </a:r>
            <a:endParaRPr lang="en-US" sz="1500" noProof="1"/>
          </a:p>
        </p:txBody>
      </p:sp>
      <p:sp>
        <p:nvSpPr>
          <p:cNvPr id="30" name="TextBox 29"/>
          <p:cNvSpPr txBox="1"/>
          <p:nvPr/>
        </p:nvSpPr>
        <p:spPr>
          <a:xfrm>
            <a:off x="5257800" y="461772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Technical design</a:t>
            </a:r>
            <a:endParaRPr lang="en-US" sz="1500" noProof="1"/>
          </a:p>
        </p:txBody>
      </p:sp>
      <p:sp>
        <p:nvSpPr>
          <p:cNvPr id="31" name="TextBox 30"/>
          <p:cNvSpPr txBox="1"/>
          <p:nvPr/>
        </p:nvSpPr>
        <p:spPr>
          <a:xfrm>
            <a:off x="8229600" y="46456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Signals in, pathways out</a:t>
            </a:r>
            <a:endParaRPr lang="en-US" sz="1050" noProof="1"/>
          </a:p>
        </p:txBody>
      </p:sp>
      <p:sp>
        <p:nvSpPr>
          <p:cNvPr id="32" name="Rectangle 31"/>
          <p:cNvSpPr/>
          <p:nvPr/>
        </p:nvSpPr>
        <p:spPr>
          <a:xfrm>
            <a:off x="4572000" y="509270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33" name="TextBox 32"/>
          <p:cNvSpPr txBox="1"/>
          <p:nvPr/>
        </p:nvSpPr>
        <p:spPr>
          <a:xfrm>
            <a:off x="4572000" y="534924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8A9A5B"/>
                </a:solidFill>
                <a:latin typeface="Arial"/>
                <a:ea typeface="Arial"/>
              </a:rPr>
              <a:t>07</a:t>
            </a:r>
            <a:endParaRPr lang="en-US" sz="1500" noProof="1"/>
          </a:p>
        </p:txBody>
      </p:sp>
      <p:sp>
        <p:nvSpPr>
          <p:cNvPr id="34" name="TextBox 33"/>
          <p:cNvSpPr txBox="1"/>
          <p:nvPr/>
        </p:nvSpPr>
        <p:spPr>
          <a:xfrm>
            <a:off x="5257800" y="53492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SDG impact &amp; demo</a:t>
            </a:r>
            <a:endParaRPr lang="en-US" sz="1500" noProof="1"/>
          </a:p>
        </p:txBody>
      </p:sp>
      <p:sp>
        <p:nvSpPr>
          <p:cNvPr id="35" name="TextBox 34"/>
          <p:cNvSpPr txBox="1"/>
          <p:nvPr/>
        </p:nvSpPr>
        <p:spPr>
          <a:xfrm>
            <a:off x="8229600" y="53771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Intended contribution, live proof</a:t>
            </a:r>
            <a:endParaRPr lang="en-US" sz="1050" noProof="1"/>
          </a:p>
        </p:txBody>
      </p:sp>
      <p:sp>
        <p:nvSpPr>
          <p:cNvPr id="36" name="Rectangle 35"/>
          <p:cNvSpPr/>
          <p:nvPr/>
        </p:nvSpPr>
        <p:spPr>
          <a:xfrm>
            <a:off x="4572000" y="5824220"/>
            <a:ext cx="6903720" cy="1016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37" name="Rectangle 36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38" name="TextBox 3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39" name="TextBox 38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02 / 20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01 · PROBLEM · BACKGROUND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AI is changing roles faster than training systems can update</a:t>
            </a:r>
            <a:endParaRPr lang="en-US" sz="2700" noProof="1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5400" noProof="1" b="1" i="0">
                <a:solidFill>
                  <a:srgbClr val="8A9A5B"/>
                </a:solidFill>
                <a:latin typeface="Arial"/>
                <a:ea typeface="Arial"/>
              </a:rPr>
              <a:t>56%</a:t>
            </a:r>
            <a:endParaRPr lang="en-US" sz="5400" noProof="1"/>
          </a:p>
        </p:txBody>
      </p:sp>
      <p:sp>
        <p:nvSpPr>
          <p:cNvPr id="7" name="TextBox 6"/>
          <p:cNvSpPr txBox="1"/>
          <p:nvPr/>
        </p:nvSpPr>
        <p:spPr>
          <a:xfrm>
            <a:off x="840740" y="2788920"/>
            <a:ext cx="5394960" cy="5029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b="1" i="0">
                <a:solidFill>
                  <a:srgbClr val="3F4A26"/>
                </a:solidFill>
                <a:latin typeface="Arial"/>
                <a:ea typeface="Arial"/>
              </a:rPr>
              <a:t>of Malaysian professionals already use AI tools at work</a:t>
            </a:r>
            <a:endParaRPr lang="en-US" sz="1250" noProof="1"/>
          </a:p>
        </p:txBody>
      </p:sp>
      <p:sp>
        <p:nvSpPr>
          <p:cNvPr id="8" name="Rectangle 7"/>
          <p:cNvSpPr/>
          <p:nvPr/>
        </p:nvSpPr>
        <p:spPr>
          <a:xfrm>
            <a:off x="840740" y="3383280"/>
            <a:ext cx="914400" cy="40640"/>
          </a:xfrm>
          <a:prstGeom prst="rect">
            <a:avLst/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1874520" y="321818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00" noProof="1" i="1">
                <a:solidFill>
                  <a:srgbClr val="62704F"/>
                </a:solidFill>
                <a:latin typeface="Arial"/>
                <a:ea typeface="Arial"/>
              </a:rPr>
              <a:t>yet only</a:t>
            </a:r>
            <a:endParaRPr lang="en-US" sz="1100" noProof="1"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5400" noProof="1" b="1" i="0">
                <a:solidFill>
                  <a:srgbClr val="5B7FA6"/>
                </a:solidFill>
                <a:latin typeface="Arial"/>
                <a:ea typeface="Arial"/>
              </a:rPr>
              <a:t>26%</a:t>
            </a:r>
            <a:endParaRPr lang="en-US" sz="5400" noProof="1"/>
          </a:p>
        </p:txBody>
      </p:sp>
      <p:sp>
        <p:nvSpPr>
          <p:cNvPr id="11" name="TextBox 10"/>
          <p:cNvSpPr txBox="1"/>
          <p:nvPr/>
        </p:nvSpPr>
        <p:spPr>
          <a:xfrm>
            <a:off x="840740" y="457200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b="1" i="0">
                <a:solidFill>
                  <a:srgbClr val="3F4A26"/>
                </a:solidFill>
                <a:latin typeface="Arial"/>
                <a:ea typeface="Arial"/>
              </a:rPr>
              <a:t>have received any formal AI training</a:t>
            </a:r>
            <a:endParaRPr lang="en-US" sz="1250" noProof="1"/>
          </a:p>
        </p:txBody>
      </p:sp>
      <p:sp>
        <p:nvSpPr>
          <p:cNvPr id="12" name="TextBox 11"/>
          <p:cNvSpPr txBox="1"/>
          <p:nvPr/>
        </p:nvSpPr>
        <p:spPr>
          <a:xfrm>
            <a:off x="840740" y="5029200"/>
            <a:ext cx="5394960" cy="7315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A 30-point gap between tool adoption and capability — most people are improvising with AI, unguided.</a:t>
            </a:r>
            <a:endParaRPr lang="en-US" sz="1150" noProof="1"/>
          </a:p>
        </p:txBody>
      </p:sp>
      <p:sp>
        <p:nvSpPr>
          <p:cNvPr id="13" name="Rectangle 12"/>
          <p:cNvSpPr/>
          <p:nvPr/>
        </p:nvSpPr>
        <p:spPr>
          <a:xfrm>
            <a:off x="6720840" y="1874520"/>
            <a:ext cx="12700" cy="393192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7315200" y="2057400"/>
            <a:ext cx="4114800" cy="10058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5400" noProof="1" b="1" i="0">
                <a:solidFill>
                  <a:srgbClr val="4B5A2A"/>
                </a:solidFill>
                <a:latin typeface="Arial"/>
                <a:ea typeface="Arial"/>
              </a:rPr>
              <a:t>600k+</a:t>
            </a:r>
            <a:endParaRPr lang="en-US" sz="5400" noProof="1"/>
          </a:p>
        </p:txBody>
      </p:sp>
      <p:sp>
        <p:nvSpPr>
          <p:cNvPr id="15" name="TextBox 14"/>
          <p:cNvSpPr txBox="1"/>
          <p:nvPr/>
        </p:nvSpPr>
        <p:spPr>
          <a:xfrm>
            <a:off x="7332980" y="306324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b="1" i="0">
                <a:solidFill>
                  <a:srgbClr val="3F4A26"/>
                </a:solidFill>
                <a:latin typeface="Arial"/>
                <a:ea typeface="Arial"/>
              </a:rPr>
              <a:t>Malaysian workers are expected to need reskilling within the next 3–5 years</a:t>
            </a:r>
            <a:endParaRPr lang="en-US" sz="1250" noProof="1"/>
          </a:p>
        </p:txBody>
      </p:sp>
      <p:sp>
        <p:nvSpPr>
          <p:cNvPr id="16" name="TextBox 15"/>
          <p:cNvSpPr txBox="1"/>
          <p:nvPr/>
        </p:nvSpPr>
        <p:spPr>
          <a:xfrm>
            <a:off x="7332980" y="370332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1">
                <a:solidFill>
                  <a:srgbClr val="62704F"/>
                </a:solidFill>
                <a:latin typeface="Arial"/>
                <a:ea typeface="Arial"/>
              </a:rPr>
              <a:t>— Ministry of Science, Technology &amp; Innovation (MOSTI)</a:t>
            </a:r>
            <a:endParaRPr lang="en-US" sz="1050" noProof="1"/>
          </a:p>
        </p:txBody>
      </p:sp>
      <p:sp>
        <p:nvSpPr>
          <p:cNvPr id="17" name="Rectangle 16"/>
          <p:cNvSpPr/>
          <p:nvPr/>
        </p:nvSpPr>
        <p:spPr>
          <a:xfrm>
            <a:off x="7332980" y="4343400"/>
            <a:ext cx="3977640" cy="406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7332980" y="4526280"/>
            <a:ext cx="4023360" cy="7315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The reskilling window is closing: skill frameworks haven't caught up, and job requirements have already moved.</a:t>
            </a:r>
            <a:endParaRPr lang="en-US" sz="1150" noProof="1"/>
          </a:p>
        </p:txBody>
      </p:sp>
      <p:sp>
        <p:nvSpPr>
          <p:cNvPr id="19" name="TextBox 18"/>
          <p:cNvSpPr txBox="1"/>
          <p:nvPr/>
        </p:nvSpPr>
        <p:spPr>
          <a:xfrm>
            <a:off x="822960" y="605282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950" noProof="1" i="0">
                <a:solidFill>
                  <a:srgbClr val="7A8663"/>
                </a:solidFill>
                <a:latin typeface="Arial"/>
                <a:ea typeface="Arial"/>
              </a:rPr>
              <a:t>Sources: Hays Asia Salary Guide 2025; MOSTI public statement (2025).</a:t>
            </a:r>
            <a:endParaRPr lang="en-US" sz="950" noProof="1"/>
          </a:p>
        </p:txBody>
      </p:sp>
      <p:sp>
        <p:nvSpPr>
          <p:cNvPr id="20" name="Rectangle 19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1" name="TextBox 20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22" name="TextBox 21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03 / 20</a:t>
            </a:r>
            <a:endParaRPr lang="en-US" sz="10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01 · PROBLEM · BACKGROUND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Three gaps keep people stuck in place</a:t>
            </a:r>
            <a:endParaRPr lang="en-US" sz="2700" noProof="1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502660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7" name="Oval 6-shape"/>
          <p:cNvSpPr/>
          <p:nvPr/>
        </p:nvSpPr>
        <p:spPr>
          <a:xfrm>
            <a:off x="1143000" y="2194560"/>
            <a:ext cx="474980" cy="47498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8" name="Oval 6-text"/>
          <p:cNvSpPr txBox="1"/>
          <p:nvPr/>
        </p:nvSpPr>
        <p:spPr>
          <a:xfrm>
            <a:off x="1143000" y="2194560"/>
            <a:ext cx="474980" cy="4749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lang="en-US" sz="1800" noProof="1"/>
          </a:p>
        </p:txBody>
      </p:sp>
      <p:sp>
        <p:nvSpPr>
          <p:cNvPr id="9" name="TextBox 7"/>
          <p:cNvSpPr txBox="1"/>
          <p:nvPr/>
        </p:nvSpPr>
        <p:spPr>
          <a:xfrm>
            <a:off x="1143000" y="288036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Workers can't see the way forward</a:t>
            </a:r>
            <a:endParaRPr lang="en-US" sz="1500" noProof="1"/>
          </a:p>
        </p:txBody>
      </p:sp>
      <p:sp>
        <p:nvSpPr>
          <p:cNvPr id="10" name="TextBox 8"/>
          <p:cNvSpPr txBox="1"/>
          <p:nvPr/>
        </p:nvSpPr>
        <p:spPr>
          <a:xfrm>
            <a:off x="1143000" y="3611880"/>
            <a:ext cx="2880360" cy="109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They don't know which AI skills are worth learning, or whether their own role is rising or declining.</a:t>
            </a:r>
            <a:endParaRPr lang="en-US" sz="1150" noProof="1"/>
          </a:p>
        </p:txBody>
      </p:sp>
      <p:sp>
        <p:nvSpPr>
          <p:cNvPr id="11" name="Rounded Rectangle 9"/>
          <p:cNvSpPr/>
          <p:nvPr/>
        </p:nvSpPr>
        <p:spPr>
          <a:xfrm>
            <a:off x="4452620" y="1828800"/>
            <a:ext cx="3502660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2" name="Oval 10-shape"/>
          <p:cNvSpPr/>
          <p:nvPr/>
        </p:nvSpPr>
        <p:spPr>
          <a:xfrm>
            <a:off x="4772660" y="2194560"/>
            <a:ext cx="474980" cy="47498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3" name="Oval 10-text"/>
          <p:cNvSpPr txBox="1"/>
          <p:nvPr/>
        </p:nvSpPr>
        <p:spPr>
          <a:xfrm>
            <a:off x="4772660" y="2194560"/>
            <a:ext cx="474980" cy="4749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lang="en-US" sz="1800" noProof="1"/>
          </a:p>
        </p:txBody>
      </p:sp>
      <p:sp>
        <p:nvSpPr>
          <p:cNvPr id="14" name="TextBox 11"/>
          <p:cNvSpPr txBox="1"/>
          <p:nvPr/>
        </p:nvSpPr>
        <p:spPr>
          <a:xfrm>
            <a:off x="4772660" y="288036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Employers can't see the gap</a:t>
            </a:r>
            <a:endParaRPr lang="en-US" sz="1500" noProof="1"/>
          </a:p>
        </p:txBody>
      </p:sp>
      <p:sp>
        <p:nvSpPr>
          <p:cNvPr id="15" name="TextBox 12"/>
          <p:cNvSpPr txBox="1"/>
          <p:nvPr/>
        </p:nvSpPr>
        <p:spPr>
          <a:xfrm>
            <a:off x="4772660" y="3611880"/>
            <a:ext cx="2880360" cy="109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HR can't translate AI headlines into a training plan — team reskilling lacks a data basis.</a:t>
            </a:r>
            <a:endParaRPr lang="en-US" sz="1150" noProof="1"/>
          </a:p>
        </p:txBody>
      </p:sp>
      <p:sp>
        <p:nvSpPr>
          <p:cNvPr id="16" name="Rounded Rectangle 13"/>
          <p:cNvSpPr/>
          <p:nvPr/>
        </p:nvSpPr>
        <p:spPr>
          <a:xfrm>
            <a:off x="8083550" y="1828800"/>
            <a:ext cx="3502660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7" name="Oval 14-shape"/>
          <p:cNvSpPr/>
          <p:nvPr/>
        </p:nvSpPr>
        <p:spPr>
          <a:xfrm>
            <a:off x="8403590" y="2194560"/>
            <a:ext cx="474980" cy="47498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8" name="Oval 14-text"/>
          <p:cNvSpPr txBox="1"/>
          <p:nvPr/>
        </p:nvSpPr>
        <p:spPr>
          <a:xfrm>
            <a:off x="8403590" y="2194560"/>
            <a:ext cx="474980" cy="4749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lang="en-US" sz="1800" noProof="1"/>
          </a:p>
        </p:txBody>
      </p:sp>
      <p:sp>
        <p:nvSpPr>
          <p:cNvPr id="19" name="TextBox 15"/>
          <p:cNvSpPr txBox="1"/>
          <p:nvPr/>
        </p:nvSpPr>
        <p:spPr>
          <a:xfrm>
            <a:off x="8403590" y="288036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Training providers ship stale maps</a:t>
            </a:r>
            <a:endParaRPr lang="en-US" sz="1500" noProof="1"/>
          </a:p>
        </p:txBody>
      </p:sp>
      <p:sp>
        <p:nvSpPr>
          <p:cNvPr id="20" name="TextBox 16"/>
          <p:cNvSpPr txBox="1"/>
          <p:nvPr/>
        </p:nvSpPr>
        <p:spPr>
          <a:xfrm>
            <a:off x="8403590" y="3611880"/>
            <a:ext cx="2880360" cy="10972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Learning pathways are static lists; by the time a course launches, demand has moved.</a:t>
            </a:r>
            <a:endParaRPr lang="en-US" sz="1150" noProof="1"/>
          </a:p>
        </p:txBody>
      </p:sp>
      <p:sp>
        <p:nvSpPr>
          <p:cNvPr id="21" name="Rounded Rectangle 17"/>
          <p:cNvSpPr/>
          <p:nvPr/>
        </p:nvSpPr>
        <p:spPr>
          <a:xfrm>
            <a:off x="822960" y="5257800"/>
            <a:ext cx="10543540" cy="657860"/>
          </a:xfrm>
          <a:prstGeom prst="roundRect">
            <a:avLst>
              <a:gd name="adj" fmla="val 50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22" name="TextBox 18"/>
          <p:cNvSpPr txBox="1"/>
          <p:nvPr/>
        </p:nvSpPr>
        <p:spPr>
          <a:xfrm>
            <a:off x="1143000" y="5257800"/>
            <a:ext cx="10058400" cy="6578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3F4A26"/>
                </a:solidFill>
                <a:latin typeface="Arial"/>
                <a:ea typeface="Arial"/>
              </a:rPr>
              <a:t>A one-off skills assessment is not enough — people need a system that keeps evolving as the market does.</a:t>
            </a:r>
            <a:endParaRPr lang="en-US" sz="1300" noProof="1"/>
          </a:p>
        </p:txBody>
      </p:sp>
      <p:sp>
        <p:nvSpPr>
          <p:cNvPr id="23" name="Rectangle 19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4" name="TextBox 20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25" name="TextBox 21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04 / 20</a:t>
            </a:r>
            <a:endParaRPr lang="en-US" sz="10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02 · WHO WE BUILD FOR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Built for everyone the AI shift touches</a:t>
            </a:r>
            <a:endParaRPr lang="en-US" sz="2700" noProof="1"/>
          </a:p>
        </p:txBody>
      </p:sp>
      <p:sp>
        <p:nvSpPr>
          <p:cNvPr id="6" name="TextBox 5"/>
          <p:cNvSpPr txBox="1"/>
          <p:nvPr/>
        </p:nvSpPr>
        <p:spPr>
          <a:xfrm>
            <a:off x="822960" y="14808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 i="0">
                <a:solidFill>
                  <a:srgbClr val="62704F"/>
                </a:solidFill>
                <a:latin typeface="Arial"/>
                <a:ea typeface="Arial"/>
              </a:rPr>
              <a:t>Four personas, one shared question — “what should I learn next?” The live demo opens with this exact choice.</a:t>
            </a:r>
            <a:endParaRPr lang="en-US" sz="1200" noProof="1"/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194300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82550" cy="16916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1143000" y="23037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450" noProof="1" b="1" i="0">
                <a:solidFill>
                  <a:srgbClr val="4B5A2A"/>
                </a:solidFill>
                <a:latin typeface="Arial"/>
                <a:ea typeface="Arial"/>
              </a:rPr>
              <a:t>Jobseeker / worker at risk</a:t>
            </a:r>
            <a:endParaRPr lang="en-US" sz="1450" noProof="1"/>
          </a:p>
        </p:txBody>
      </p:sp>
      <p:sp>
        <p:nvSpPr>
          <p:cNvPr id="10" name="TextBox 9"/>
          <p:cNvSpPr txBox="1"/>
          <p:nvPr/>
        </p:nvSpPr>
        <p:spPr>
          <a:xfrm>
            <a:off x="1143000" y="2669540"/>
            <a:ext cx="466344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1">
                <a:solidFill>
                  <a:srgbClr val="62704F"/>
                </a:solidFill>
                <a:latin typeface="Arial"/>
                <a:ea typeface="Arial"/>
              </a:rPr>
              <a:t>“Will my role disappear? Where do I go next — and what do I learn to get there?”</a:t>
            </a:r>
            <a:endParaRPr lang="en-US" sz="1150" noProof="1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550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5B7FA6"/>
                </a:solidFill>
                <a:latin typeface="Arial"/>
                <a:ea typeface="Arial"/>
              </a:rPr>
              <a:t>WORKER FLOW: QUESTIONNAIRE + CV UPLOAD</a:t>
            </a:r>
            <a:endParaRPr lang="en-US" sz="1000" noProof="1"/>
          </a:p>
        </p:txBody>
      </p:sp>
      <p:sp>
        <p:nvSpPr>
          <p:cNvPr id="12" name="Rounded Rectangle 11"/>
          <p:cNvSpPr/>
          <p:nvPr/>
        </p:nvSpPr>
        <p:spPr>
          <a:xfrm>
            <a:off x="6172200" y="2103120"/>
            <a:ext cx="5194300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3" name="Rectangle 12"/>
          <p:cNvSpPr/>
          <p:nvPr/>
        </p:nvSpPr>
        <p:spPr>
          <a:xfrm>
            <a:off x="6172200" y="2103120"/>
            <a:ext cx="82550" cy="16916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6492240" y="23037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450" noProof="1" b="1" i="0">
                <a:solidFill>
                  <a:srgbClr val="4B5A2A"/>
                </a:solidFill>
                <a:latin typeface="Arial"/>
                <a:ea typeface="Arial"/>
              </a:rPr>
              <a:t>Graduate &amp; career switcher</a:t>
            </a:r>
            <a:endParaRPr lang="en-US" sz="1450" noProof="1"/>
          </a:p>
        </p:txBody>
      </p:sp>
      <p:sp>
        <p:nvSpPr>
          <p:cNvPr id="15" name="TextBox 14"/>
          <p:cNvSpPr txBox="1"/>
          <p:nvPr/>
        </p:nvSpPr>
        <p:spPr>
          <a:xfrm>
            <a:off x="6492240" y="2669540"/>
            <a:ext cx="466344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1">
                <a:solidFill>
                  <a:srgbClr val="62704F"/>
                </a:solidFill>
                <a:latin typeface="Arial"/>
                <a:ea typeface="Arial"/>
              </a:rPr>
              <a:t>“Show me the direction before I bet my career start on a shrinking track.”</a:t>
            </a:r>
            <a:endParaRPr lang="en-US" sz="1150" noProof="1"/>
          </a:p>
        </p:txBody>
      </p:sp>
      <p:sp>
        <p:nvSpPr>
          <p:cNvPr id="16" name="TextBox 15"/>
          <p:cNvSpPr txBox="1"/>
          <p:nvPr/>
        </p:nvSpPr>
        <p:spPr>
          <a:xfrm>
            <a:off x="6492240" y="336550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5B7FA6"/>
                </a:solidFill>
                <a:latin typeface="Arial"/>
                <a:ea typeface="Arial"/>
              </a:rPr>
              <a:t>GRADUATE STUDY-FIELD FILTERING</a:t>
            </a:r>
            <a:endParaRPr lang="en-US" sz="1000" noProof="1"/>
          </a:p>
        </p:txBody>
      </p:sp>
      <p:sp>
        <p:nvSpPr>
          <p:cNvPr id="17" name="Rounded Rectangle 16"/>
          <p:cNvSpPr/>
          <p:nvPr/>
        </p:nvSpPr>
        <p:spPr>
          <a:xfrm>
            <a:off x="822960" y="3977640"/>
            <a:ext cx="5194300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8" name="Rectangle 17"/>
          <p:cNvSpPr/>
          <p:nvPr/>
        </p:nvSpPr>
        <p:spPr>
          <a:xfrm>
            <a:off x="822960" y="3977640"/>
            <a:ext cx="82550" cy="16916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9" name="TextBox 18"/>
          <p:cNvSpPr txBox="1"/>
          <p:nvPr/>
        </p:nvSpPr>
        <p:spPr>
          <a:xfrm>
            <a:off x="1143000" y="417830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450" noProof="1" b="1" i="0">
                <a:solidFill>
                  <a:srgbClr val="4B5A2A"/>
                </a:solidFill>
                <a:latin typeface="Arial"/>
                <a:ea typeface="Arial"/>
              </a:rPr>
              <a:t>HR &amp; talent development</a:t>
            </a:r>
            <a:endParaRPr lang="en-US" sz="1450" noProof="1"/>
          </a:p>
        </p:txBody>
      </p:sp>
      <p:sp>
        <p:nvSpPr>
          <p:cNvPr id="20" name="TextBox 19"/>
          <p:cNvSpPr txBox="1"/>
          <p:nvPr/>
        </p:nvSpPr>
        <p:spPr>
          <a:xfrm>
            <a:off x="1143000" y="4544060"/>
            <a:ext cx="466344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1">
                <a:solidFill>
                  <a:srgbClr val="62704F"/>
                </a:solidFill>
                <a:latin typeface="Arial"/>
                <a:ea typeface="Arial"/>
              </a:rPr>
              <a:t>“Give me a team-level skills-gap view I can actually plan training around.”</a:t>
            </a:r>
            <a:endParaRPr lang="en-US" sz="1150" noProof="1"/>
          </a:p>
        </p:txBody>
      </p:sp>
      <p:sp>
        <p:nvSpPr>
          <p:cNvPr id="21" name="TextBox 20"/>
          <p:cNvSpPr txBox="1"/>
          <p:nvPr/>
        </p:nvSpPr>
        <p:spPr>
          <a:xfrm>
            <a:off x="1143000" y="52400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5B7FA6"/>
                </a:solidFill>
                <a:latin typeface="Arial"/>
                <a:ea typeface="Arial"/>
              </a:rPr>
              <a:t>HR FLOW: ROSTER → GAP HEATMAP &amp; PLAN</a:t>
            </a:r>
            <a:endParaRPr lang="en-US" sz="1000" noProof="1"/>
          </a:p>
        </p:txBody>
      </p:sp>
      <p:sp>
        <p:nvSpPr>
          <p:cNvPr id="22" name="Rounded Rectangle 21"/>
          <p:cNvSpPr/>
          <p:nvPr/>
        </p:nvSpPr>
        <p:spPr>
          <a:xfrm>
            <a:off x="6172200" y="3977640"/>
            <a:ext cx="5194300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3" name="Rectangle 22"/>
          <p:cNvSpPr/>
          <p:nvPr/>
        </p:nvSpPr>
        <p:spPr>
          <a:xfrm>
            <a:off x="6172200" y="3977640"/>
            <a:ext cx="82550" cy="16916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4" name="TextBox 23"/>
          <p:cNvSpPr txBox="1"/>
          <p:nvPr/>
        </p:nvSpPr>
        <p:spPr>
          <a:xfrm>
            <a:off x="6492240" y="417830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450" noProof="1" b="1" i="0">
                <a:solidFill>
                  <a:srgbClr val="4B5A2A"/>
                </a:solidFill>
                <a:latin typeface="Arial"/>
                <a:ea typeface="Arial"/>
              </a:rPr>
              <a:t>TVET &amp; career centres</a:t>
            </a:r>
            <a:endParaRPr lang="en-US" sz="1450" noProof="1"/>
          </a:p>
        </p:txBody>
      </p:sp>
      <p:sp>
        <p:nvSpPr>
          <p:cNvPr id="25" name="TextBox 24"/>
          <p:cNvSpPr txBox="1"/>
          <p:nvPr/>
        </p:nvSpPr>
        <p:spPr>
          <a:xfrm>
            <a:off x="6492240" y="4544060"/>
            <a:ext cx="466344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1">
                <a:solidFill>
                  <a:srgbClr val="62704F"/>
                </a:solidFill>
                <a:latin typeface="Arial"/>
                <a:ea typeface="Arial"/>
              </a:rPr>
              <a:t>“Back career advice with live data, not an outdated handbook.”</a:t>
            </a:r>
            <a:endParaRPr lang="en-US" sz="1150" noProof="1"/>
          </a:p>
        </p:txBody>
      </p:sp>
      <p:sp>
        <p:nvSpPr>
          <p:cNvPr id="26" name="TextBox 25"/>
          <p:cNvSpPr txBox="1"/>
          <p:nvPr/>
        </p:nvSpPr>
        <p:spPr>
          <a:xfrm>
            <a:off x="6492240" y="52400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5B7FA6"/>
                </a:solidFill>
                <a:latin typeface="Arial"/>
                <a:ea typeface="Arial"/>
              </a:rPr>
              <a:t>CAREER-CENTRE FLOW: CURRICULUM COVERAGE</a:t>
            </a:r>
            <a:endParaRPr lang="en-US" sz="1000" noProof="1"/>
          </a:p>
        </p:txBody>
      </p:sp>
      <p:sp>
        <p:nvSpPr>
          <p:cNvPr id="27" name="Rectangle 26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8" name="TextBox 2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29" name="TextBox 28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05 / 20</a:t>
            </a:r>
            <a:endParaRPr lang="en-US" sz="10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PROFILES — DESIGNED FOR DIFFERENT STARTING POINTS</a:t>
            </a:r>
            <a:endParaRPr lang="en-US" sz="10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5842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700" noProof="1" b="1">
                <a:solidFill>
                  <a:srgbClr val="3E4A24"/>
                </a:solidFill>
                <a:latin typeface="MiSans"/>
                <a:ea typeface="MiSans"/>
              </a:rPr>
              <a:t>Designed for Different Starting Points</a:t>
            </a:r>
            <a:endParaRPr lang="en-US" sz="2700" noProof="1"/>
          </a:p>
        </p:txBody>
      </p:sp>
      <p:sp>
        <p:nvSpPr>
          <p:cNvPr id="5" name="subtitle"/>
          <p:cNvSpPr txBox="1"/>
          <p:nvPr/>
        </p:nvSpPr>
        <p:spPr>
          <a:xfrm>
            <a:off x="609600" y="1092200"/>
            <a:ext cx="10922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One jobseeker flow serves both situations the brief names — upload a CV or tick skills manually; the same engine matches each profile to future roles.</a:t>
            </a:r>
            <a:endParaRPr lang="en-US" sz="850" noProof="1"/>
          </a:p>
        </p:txBody>
      </p:sp>
      <p:sp>
        <p:nvSpPr>
          <p:cNvPr id="6" name="c1"/>
          <p:cNvSpPr/>
          <p:nvPr/>
        </p:nvSpPr>
        <p:spPr>
          <a:xfrm>
            <a:off x="609600" y="1422400"/>
            <a:ext cx="3429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pic>
        <p:nvPicPr>
          <p:cNvPr id="7" name="c1-av"/>
          <p:cNvPicPr/>
          <p:nvPr/>
        </p:nvPicPr>
        <p:blipFill>
          <a:blip r:embed="rId2"/>
          <a:stretch>
            <a:fillRect/>
          </a:stretch>
        </p:blipFill>
        <p:spPr>
          <a:xfrm>
            <a:off x="1752600" y="1625600"/>
            <a:ext cx="1143000" cy="1143000"/>
          </a:xfrm>
          <a:prstGeom prst="ellipse">
            <a:avLst/>
          </a:prstGeom>
          <a:ln>
            <a:noFill/>
          </a:ln>
        </p:spPr>
      </p:pic>
      <p:sp>
        <p:nvSpPr>
          <p:cNvPr id="8" name="c1-chip"/>
          <p:cNvSpPr/>
          <p:nvPr/>
        </p:nvSpPr>
        <p:spPr>
          <a:xfrm>
            <a:off x="1422400" y="2870200"/>
            <a:ext cx="1803400" cy="228600"/>
          </a:xfrm>
          <a:prstGeom prst="roundRect">
            <a:avLst>
              <a:gd name="adj" fmla="val 5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9" name="c1-chiptext"/>
          <p:cNvSpPr txBox="1"/>
          <p:nvPr/>
        </p:nvSpPr>
        <p:spPr>
          <a:xfrm>
            <a:off x="1422400" y="2870200"/>
            <a:ext cx="1803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3E4A24"/>
                </a:solidFill>
                <a:latin typeface="MiSans"/>
                <a:ea typeface="MiSans"/>
              </a:rPr>
              <a:t>EARLY-CAREER · GRADUATE</a:t>
            </a:r>
            <a:endParaRPr lang="en-US" sz="800" noProof="1"/>
          </a:p>
        </p:txBody>
      </p:sp>
      <p:sp>
        <p:nvSpPr>
          <p:cNvPr id="10" name="c1-name"/>
          <p:cNvSpPr txBox="1"/>
          <p:nvPr/>
        </p:nvSpPr>
        <p:spPr>
          <a:xfrm>
            <a:off x="812800" y="32004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3E4A24"/>
                </a:solidFill>
                <a:latin typeface="MiSans"/>
                <a:ea typeface="MiSans"/>
              </a:rPr>
              <a:t>Aisyah Rahman</a:t>
            </a:r>
            <a:endParaRPr lang="en-US" sz="1200" noProof="1"/>
          </a:p>
        </p:txBody>
      </p:sp>
      <p:sp>
        <p:nvSpPr>
          <p:cNvPr id="11" name="c1-body"/>
          <p:cNvSpPr txBox="1"/>
          <p:nvPr/>
        </p:nvSpPr>
        <p:spPr>
          <a:xfrm>
            <a:off x="838200" y="3454400"/>
            <a:ext cx="2971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Final-year business analytics student. Evidence from two student projects, not from employment.</a:t>
            </a:r>
            <a:endParaRPr lang="en-US" sz="850" noProof="1"/>
          </a:p>
        </p:txBody>
      </p:sp>
      <p:sp>
        <p:nvSpPr>
          <p:cNvPr id="12" name="c1-tag"/>
          <p:cNvSpPr txBox="1"/>
          <p:nvPr/>
        </p:nvSpPr>
        <p:spPr>
          <a:xfrm>
            <a:off x="838200" y="4216400"/>
            <a:ext cx="29718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750" noProof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750" noProof="1"/>
          </a:p>
        </p:txBody>
      </p:sp>
      <p:sp>
        <p:nvSpPr>
          <p:cNvPr id="13" name="c2"/>
          <p:cNvSpPr/>
          <p:nvPr/>
        </p:nvSpPr>
        <p:spPr>
          <a:xfrm>
            <a:off x="4267200" y="1422400"/>
            <a:ext cx="3429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pic>
        <p:nvPicPr>
          <p:cNvPr id="14" name="c2-av"/>
          <p:cNvPicPr/>
          <p:nvPr/>
        </p:nvPicPr>
        <p:blipFill>
          <a:blip r:embed="rId3"/>
          <a:srcRect l="2539" r="2539"/>
          <a:stretch>
            <a:fillRect/>
          </a:stretch>
        </p:blipFill>
        <p:spPr>
          <a:xfrm>
            <a:off x="5410200" y="1625600"/>
            <a:ext cx="1143000" cy="1143000"/>
          </a:xfrm>
          <a:prstGeom prst="ellipse">
            <a:avLst/>
          </a:prstGeom>
          <a:ln>
            <a:noFill/>
          </a:ln>
        </p:spPr>
      </p:pic>
      <p:sp>
        <p:nvSpPr>
          <p:cNvPr id="15" name="c2-chip"/>
          <p:cNvSpPr/>
          <p:nvPr/>
        </p:nvSpPr>
        <p:spPr>
          <a:xfrm>
            <a:off x="5080000" y="2870200"/>
            <a:ext cx="1803400" cy="228600"/>
          </a:xfrm>
          <a:prstGeom prst="roundRect">
            <a:avLst>
              <a:gd name="adj" fmla="val 5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16" name="c2-chiptext"/>
          <p:cNvSpPr txBox="1"/>
          <p:nvPr/>
        </p:nvSpPr>
        <p:spPr>
          <a:xfrm>
            <a:off x="5080000" y="2870200"/>
            <a:ext cx="1803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3E4A24"/>
                </a:solidFill>
                <a:latin typeface="MiSans"/>
                <a:ea typeface="MiSans"/>
              </a:rPr>
              <a:t>MID-CAREER · WORKER</a:t>
            </a:r>
            <a:endParaRPr lang="en-US" sz="800" noProof="1"/>
          </a:p>
        </p:txBody>
      </p:sp>
      <p:sp>
        <p:nvSpPr>
          <p:cNvPr id="17" name="c2-name"/>
          <p:cNvSpPr txBox="1"/>
          <p:nvPr/>
        </p:nvSpPr>
        <p:spPr>
          <a:xfrm>
            <a:off x="4470400" y="32004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3E4A24"/>
                </a:solidFill>
                <a:latin typeface="MiSans"/>
                <a:ea typeface="MiSans"/>
              </a:rPr>
              <a:t>Daniel Lim</a:t>
            </a:r>
            <a:endParaRPr lang="en-US" sz="1200" noProof="1"/>
          </a:p>
        </p:txBody>
      </p:sp>
      <p:sp>
        <p:nvSpPr>
          <p:cNvPr id="18" name="c2-body"/>
          <p:cNvSpPr txBox="1"/>
          <p:nvPr/>
        </p:nvSpPr>
        <p:spPr>
          <a:xfrm>
            <a:off x="4495800" y="3454400"/>
            <a:ext cx="2971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Customer operations supervisor, 8 years across frontline support and team leadership — the at-risk worker situation.</a:t>
            </a:r>
            <a:endParaRPr lang="en-US" sz="850" noProof="1"/>
          </a:p>
        </p:txBody>
      </p:sp>
      <p:sp>
        <p:nvSpPr>
          <p:cNvPr id="19" name="c2-tag"/>
          <p:cNvSpPr txBox="1"/>
          <p:nvPr/>
        </p:nvSpPr>
        <p:spPr>
          <a:xfrm>
            <a:off x="4495800" y="4216400"/>
            <a:ext cx="29718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750" noProof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750" noProof="1"/>
          </a:p>
        </p:txBody>
      </p:sp>
      <p:sp>
        <p:nvSpPr>
          <p:cNvPr id="20" name="c3"/>
          <p:cNvSpPr/>
          <p:nvPr/>
        </p:nvSpPr>
        <p:spPr>
          <a:xfrm>
            <a:off x="7924800" y="1422400"/>
            <a:ext cx="3429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pic>
        <p:nvPicPr>
          <p:cNvPr id="21" name="c3-av"/>
          <p:cNvPicPr/>
          <p:nvPr/>
        </p:nvPicPr>
        <p:blipFill>
          <a:blip r:embed="rId4"/>
          <a:srcRect l="2539" r="2539"/>
          <a:stretch>
            <a:fillRect/>
          </a:stretch>
        </p:blipFill>
        <p:spPr>
          <a:xfrm>
            <a:off x="9067800" y="1625600"/>
            <a:ext cx="1143000" cy="1143000"/>
          </a:xfrm>
          <a:prstGeom prst="ellipse">
            <a:avLst/>
          </a:prstGeom>
          <a:ln>
            <a:noFill/>
          </a:ln>
        </p:spPr>
      </p:pic>
      <p:sp>
        <p:nvSpPr>
          <p:cNvPr id="22" name="c3-chip"/>
          <p:cNvSpPr/>
          <p:nvPr/>
        </p:nvSpPr>
        <p:spPr>
          <a:xfrm>
            <a:off x="8737600" y="2870200"/>
            <a:ext cx="1803400" cy="228600"/>
          </a:xfrm>
          <a:prstGeom prst="roundRect">
            <a:avLst>
              <a:gd name="adj" fmla="val 5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23" name="c3-chiptext"/>
          <p:cNvSpPr txBox="1"/>
          <p:nvPr/>
        </p:nvSpPr>
        <p:spPr>
          <a:xfrm>
            <a:off x="8737600" y="2870200"/>
            <a:ext cx="18034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3E4A24"/>
                </a:solidFill>
                <a:latin typeface="MiSans"/>
                <a:ea typeface="MiSans"/>
              </a:rPr>
              <a:t>SENIOR · TEAM LEAD</a:t>
            </a:r>
            <a:endParaRPr lang="en-US" sz="800" noProof="1"/>
          </a:p>
        </p:txBody>
      </p:sp>
      <p:sp>
        <p:nvSpPr>
          <p:cNvPr id="24" name="c3-name"/>
          <p:cNvSpPr txBox="1"/>
          <p:nvPr/>
        </p:nvSpPr>
        <p:spPr>
          <a:xfrm>
            <a:off x="8128000" y="32004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3E4A24"/>
                </a:solidFill>
                <a:latin typeface="MiSans"/>
                <a:ea typeface="MiSans"/>
              </a:rPr>
              <a:t>Farid Hakim</a:t>
            </a:r>
            <a:endParaRPr lang="en-US" sz="1200" noProof="1"/>
          </a:p>
        </p:txBody>
      </p:sp>
      <p:sp>
        <p:nvSpPr>
          <p:cNvPr id="25" name="c3-body"/>
          <p:cNvSpPr txBox="1"/>
          <p:nvPr/>
        </p:nvSpPr>
        <p:spPr>
          <a:xfrm>
            <a:off x="8153400" y="3454400"/>
            <a:ext cx="2971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Data &amp; AI operations lead, 8 years incl. analytics delivery and mentoring — leads through change.</a:t>
            </a:r>
            <a:endParaRPr lang="en-US" sz="850" noProof="1"/>
          </a:p>
        </p:txBody>
      </p:sp>
      <p:sp>
        <p:nvSpPr>
          <p:cNvPr id="26" name="c3-tag"/>
          <p:cNvSpPr txBox="1"/>
          <p:nvPr/>
        </p:nvSpPr>
        <p:spPr>
          <a:xfrm>
            <a:off x="8153400" y="4216400"/>
            <a:ext cx="29718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750" noProof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750" noProof="1"/>
          </a:p>
        </p:txBody>
      </p:sp>
      <p:sp>
        <p:nvSpPr>
          <p:cNvPr id="27" name="ways-card"/>
          <p:cNvSpPr/>
          <p:nvPr/>
        </p:nvSpPr>
        <p:spPr>
          <a:xfrm>
            <a:off x="609600" y="4800600"/>
            <a:ext cx="5384800" cy="1270000"/>
          </a:xfrm>
          <a:prstGeom prst="roundRect">
            <a:avLst>
              <a:gd name="adj" fmla="val 8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28" name="ways-title"/>
          <p:cNvSpPr txBox="1"/>
          <p:nvPr/>
        </p:nvSpPr>
        <p:spPr>
          <a:xfrm>
            <a:off x="812800" y="4927600"/>
            <a:ext cx="4953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Two ways into the same matching engine</a:t>
            </a:r>
            <a:endParaRPr lang="en-US" sz="1300" noProof="1"/>
          </a:p>
        </p:txBody>
      </p:sp>
      <p:sp>
        <p:nvSpPr>
          <p:cNvPr id="29" name="ways-body"/>
          <p:cNvSpPr txBox="1"/>
          <p:nvPr/>
        </p:nvSpPr>
        <p:spPr>
          <a:xfrm>
            <a:off x="812800" y="5156200"/>
            <a:ext cx="49784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Option A — upload a CV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 (synthetic files only · PDF / TXT / MD): the site parses skills from the text and preselects them.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Option B — tick skills by category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, or search across all 12 categories and apply the draft.</a:t>
            </a:r>
            <a:endParaRPr lang="en-US" sz="850" noProof="1"/>
          </a:p>
        </p:txBody>
      </p:sp>
      <p:sp>
        <p:nvSpPr>
          <p:cNvPr id="30" name="cov-card"/>
          <p:cNvSpPr/>
          <p:nvPr/>
        </p:nvSpPr>
        <p:spPr>
          <a:xfrm>
            <a:off x="6197600" y="4800600"/>
            <a:ext cx="5384800" cy="1270000"/>
          </a:xfrm>
          <a:prstGeom prst="roundRect">
            <a:avLst>
              <a:gd name="adj" fmla="val 8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31" name="cov-title"/>
          <p:cNvSpPr txBox="1"/>
          <p:nvPr/>
        </p:nvSpPr>
        <p:spPr>
          <a:xfrm>
            <a:off x="6400800" y="4927600"/>
            <a:ext cx="4953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Built for two situations, wide skill coverage</a:t>
            </a:r>
            <a:endParaRPr lang="en-US" sz="1300" noProof="1"/>
          </a:p>
        </p:txBody>
      </p:sp>
      <p:sp>
        <p:nvSpPr>
          <p:cNvPr id="32" name="cov-body"/>
          <p:cNvSpPr txBox="1"/>
          <p:nvPr/>
        </p:nvSpPr>
        <p:spPr>
          <a:xfrm>
            <a:off x="6400800" y="5156200"/>
            <a:ext cx="49784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Fresh graduates / final-year students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 and </a:t>
            </a: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working adults facing role change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 both start at the jobseeker flow.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Categories span data &amp; office, tech &amp; AI, customer &amp; operations, finance, health care &amp; education, engineering, manufacturing &amp; logistics and more.</a:t>
            </a:r>
            <a:endParaRPr lang="en-US" sz="850" noProof="1"/>
          </a:p>
        </p:txBody>
      </p:sp>
      <p:sp>
        <p:nvSpPr>
          <p:cNvPr id="33" name="disc-strip"/>
          <p:cNvSpPr/>
          <p:nvPr/>
        </p:nvSpPr>
        <p:spPr>
          <a:xfrm>
            <a:off x="609600" y="6223000"/>
            <a:ext cx="10972800" cy="279400"/>
          </a:xfrm>
          <a:prstGeom prst="roundRect">
            <a:avLst>
              <a:gd name="adj" fmla="val 50000"/>
            </a:avLst>
          </a:prstGeom>
          <a:solidFill>
            <a:srgbClr val="3E4A24"/>
          </a:solidFill>
          <a:ln>
            <a:noFill/>
          </a:ln>
        </p:spPr>
        <p:txBody>
          <a:bodyPr/>
          <a:p/>
        </p:txBody>
      </p:sp>
      <p:sp>
        <p:nvSpPr>
          <p:cNvPr id="34" name="disc-text"/>
          <p:cNvSpPr txBox="1"/>
          <p:nvPr/>
        </p:nvSpPr>
        <p:spPr>
          <a:xfrm>
            <a:off x="812800" y="6223000"/>
            <a:ext cx="105664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850" noProof="1">
                <a:solidFill>
                  <a:srgbClr val="F3F5E9"/>
                </a:solidFill>
                <a:latin typeface="MiSans"/>
                <a:ea typeface="MiSans"/>
              </a:rPr>
              <a:t>These three CVs show how matching differs by career stage — they do not claim to cover every kind of jobseeker.</a:t>
            </a:r>
            <a:endParaRPr lang="en-US" sz="850" noProof="1"/>
          </a:p>
        </p:txBody>
      </p:sp>
      <p:sp>
        <p:nvSpPr>
          <p:cNvPr id="35" name="foot-l"/>
          <p:cNvSpPr txBox="1"/>
          <p:nvPr/>
        </p:nvSpPr>
        <p:spPr>
          <a:xfrm>
            <a:off x="609600" y="6604000"/>
            <a:ext cx="787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36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06 / 20</a:t>
            </a:r>
            <a:endParaRPr lang="en-US" sz="75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10922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 1 — EARLY-CAREER · UPLOADED CV — AISYAH RAHMAN</a:t>
            </a:r>
            <a:endParaRPr lang="en-US" sz="1000" noProof="1"/>
          </a:p>
        </p:txBody>
      </p:sp>
      <p:sp>
        <p:nvSpPr>
          <p:cNvPr id="4" name="sub"/>
          <p:cNvSpPr txBox="1"/>
          <p:nvPr/>
        </p:nvSpPr>
        <p:spPr>
          <a:xfrm>
            <a:off x="609600" y="609600"/>
            <a:ext cx="1143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000000"/>
                </a:solidFill>
                <a:latin typeface="MiSans"/>
                <a:ea typeface="MiSans"/>
              </a:rPr>
              <a:t>This synthetic resume (PDF) is what a jobseeker uploads — the next page shows what the site returned for it.</a:t>
            </a:r>
            <a:endParaRPr lang="en-US" sz="850" noProof="1"/>
          </a:p>
        </p:txBody>
      </p:sp>
      <p:pic>
        <p:nvPicPr>
          <p:cNvPr id="5" name="pdf-img"/>
          <p:cNvPicPr/>
          <p:nvPr/>
        </p:nvPicPr>
        <p:blipFill>
          <a:blip r:embed="rId2"/>
          <a:stretch>
            <a:fillRect/>
          </a:stretch>
        </p:blipFill>
        <p:spPr>
          <a:xfrm>
            <a:off x="4152900" y="889000"/>
            <a:ext cx="3975100" cy="5918200"/>
          </a:xfrm>
          <a:prstGeom prst="rect">
            <a:avLst/>
          </a:prstGeom>
          <a:ln>
            <a:noFill/>
          </a:ln>
        </p:spPr>
      </p:pic>
      <p:sp>
        <p:nvSpPr>
          <p:cNvPr id="6" name="pdf-img-border"/>
          <p:cNvSpPr/>
          <p:nvPr/>
        </p:nvSpPr>
        <p:spPr>
          <a:xfrm>
            <a:off x="4152900" y="889000"/>
            <a:ext cx="3975100" cy="5918200"/>
          </a:xfrm>
          <a:prstGeom prst="rect">
            <a:avLst/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7" name="info-title"/>
          <p:cNvSpPr txBox="1"/>
          <p:nvPr/>
        </p:nvSpPr>
        <p:spPr>
          <a:xfrm>
            <a:off x="8636000" y="9398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3E4A24"/>
                </a:solidFill>
                <a:latin typeface="MiSans"/>
                <a:ea typeface="MiSans"/>
              </a:rPr>
              <a:t>About this upload</a:t>
            </a:r>
            <a:endParaRPr lang="en-US" sz="1200" noProof="1"/>
          </a:p>
        </p:txBody>
      </p:sp>
      <p:sp>
        <p:nvSpPr>
          <p:cNvPr id="8" name="info-body"/>
          <p:cNvSpPr txBox="1"/>
          <p:nvPr/>
        </p:nvSpPr>
        <p:spPr>
          <a:xfrm>
            <a:off x="8636000" y="1219200"/>
            <a:ext cx="2946400" cy="342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Entry point: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jobseeker flow → “Upload a CV” (synthetic files only · PDF / TXT / MD).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Parsing: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the site reads the CV text and pre-ticks skills in the shared 54-skill taxonomy — adjustable before matching.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Next page: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best-fit roles from an actual run on 24 Oct 2026 — scores, held skills and gaps, all traceable.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Honesty note: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nothing there is hand-written; every role, score and gap is the site’s output for this file.</a:t>
            </a:r>
            <a:endParaRPr lang="en-US" sz="850" noProof="1"/>
          </a:p>
        </p:txBody>
      </p:sp>
      <p:sp>
        <p:nvSpPr>
          <p:cNvPr id="9" name="info-chip"/>
          <p:cNvSpPr/>
          <p:nvPr/>
        </p:nvSpPr>
        <p:spPr>
          <a:xfrm>
            <a:off x="5486400" y="5689600"/>
            <a:ext cx="2159000" cy="279400"/>
          </a:xfrm>
          <a:prstGeom prst="roundRect">
            <a:avLst>
              <a:gd name="adj" fmla="val 5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10" name="info-chip-t"/>
          <p:cNvSpPr txBox="1"/>
          <p:nvPr/>
        </p:nvSpPr>
        <p:spPr>
          <a:xfrm>
            <a:off x="8636000" y="5130800"/>
            <a:ext cx="2159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800" noProof="1"/>
          </a:p>
        </p:txBody>
      </p:sp>
      <p:sp>
        <p:nvSpPr>
          <p:cNvPr id="11" name="pdf-file"/>
          <p:cNvSpPr txBox="1"/>
          <p:nvPr/>
        </p:nvSpPr>
        <p:spPr>
          <a:xfrm>
            <a:off x="8636000" y="5181600"/>
            <a:ext cx="2159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File: resume_01_early_career.pdf · PDF · 1 page · English</a:t>
            </a:r>
            <a:endParaRPr lang="en-US" sz="750" noProof="1"/>
          </a:p>
        </p:txBody>
      </p:sp>
      <p:sp>
        <p:nvSpPr>
          <p:cNvPr id="12" name="foot-l"/>
          <p:cNvSpPr txBox="1"/>
          <p:nvPr/>
        </p:nvSpPr>
        <p:spPr>
          <a:xfrm>
            <a:off x="609600" y="6629400"/>
            <a:ext cx="3302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13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07 / 20</a:t>
            </a:r>
            <a:endParaRPr lang="en-US" sz="75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 1 — EARLY-CAREER</a:t>
            </a:r>
            <a:endParaRPr lang="en-US" sz="10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584200"/>
            <a:ext cx="9652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700" noProof="1" b="1">
                <a:solidFill>
                  <a:srgbClr val="3E4A24"/>
                </a:solidFill>
                <a:latin typeface="MiSans"/>
                <a:ea typeface="MiSans"/>
              </a:rPr>
              <a:t>Aisyah | Early-Career Analyst Path</a:t>
            </a:r>
            <a:endParaRPr lang="en-US" sz="2700" noProof="1"/>
          </a:p>
        </p:txBody>
      </p:sp>
      <p:pic>
        <p:nvPicPr>
          <p:cNvPr id="5" name="avatar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1219200"/>
            <a:ext cx="812800" cy="812800"/>
          </a:xfrm>
          <a:prstGeom prst="ellipse">
            <a:avLst/>
          </a:prstGeom>
          <a:ln>
            <a:noFill/>
          </a:ln>
        </p:spPr>
      </p:pic>
      <p:sp>
        <p:nvSpPr>
          <p:cNvPr id="6" name="idcard"/>
          <p:cNvSpPr/>
          <p:nvPr/>
        </p:nvSpPr>
        <p:spPr>
          <a:xfrm>
            <a:off x="1574800" y="1219200"/>
            <a:ext cx="3962400" cy="812800"/>
          </a:xfrm>
          <a:prstGeom prst="roundRect">
            <a:avLst>
              <a:gd name="adj" fmla="val 1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7" name="idtext"/>
          <p:cNvSpPr txBox="1"/>
          <p:nvPr/>
        </p:nvSpPr>
        <p:spPr>
          <a:xfrm>
            <a:off x="1752600" y="1295400"/>
            <a:ext cx="36576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Aisyah Rahman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 · fictional persona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Business analytics final-year student, Kuala Lumpur.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850" noProof="1"/>
          </a:p>
        </p:txBody>
      </p:sp>
      <p:sp>
        <p:nvSpPr>
          <p:cNvPr id="8" name="cv-card"/>
          <p:cNvSpPr/>
          <p:nvPr/>
        </p:nvSpPr>
        <p:spPr>
          <a:xfrm>
            <a:off x="609600" y="2235200"/>
            <a:ext cx="492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9" name="cv-title"/>
          <p:cNvSpPr txBox="1"/>
          <p:nvPr/>
        </p:nvSpPr>
        <p:spPr>
          <a:xfrm>
            <a:off x="812800" y="23876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CV evidence — as written in the resume</a:t>
            </a:r>
            <a:endParaRPr lang="en-US" sz="1300" noProof="1"/>
          </a:p>
        </p:txBody>
      </p:sp>
      <p:sp>
        <p:nvSpPr>
          <p:cNvPr id="10" name="cv-rule"/>
          <p:cNvSpPr/>
          <p:nvPr/>
        </p:nvSpPr>
        <p:spPr>
          <a:xfrm>
            <a:off x="812800" y="2667000"/>
            <a:ext cx="4521200" cy="12700"/>
          </a:xfrm>
          <a:prstGeom prst="rect">
            <a:avLst/>
          </a:prstGeom>
          <a:solidFill>
            <a:srgbClr val="D8DEC9"/>
          </a:solidFill>
          <a:ln>
            <a:noFill/>
          </a:ln>
        </p:spPr>
        <p:txBody>
          <a:bodyPr/>
          <a:p/>
        </p:txBody>
      </p:sp>
      <p:sp>
        <p:nvSpPr>
          <p:cNvPr id="11" name="cv-body"/>
          <p:cNvSpPr txBox="1"/>
          <p:nvPr/>
        </p:nvSpPr>
        <p:spPr>
          <a:xfrm>
            <a:off x="812800" y="2794000"/>
            <a:ext cx="2844800" cy="248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Retail Sales Dashboard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— student project (2025): cleaned a fictional sample dataset in Excel and Python; compared monthly sales and product categories.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Campus Service Survey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— student project (2024): questionnaire design, basic statistics, charts and written recommendations.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Core skills listed: Excel reporting, Python fundamentals, basic statistics, data visualisation, clear presentation.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Target roles stated in the CV: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Junior Data Analyst / Reporting Analyst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Learning direction stated in the CV: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SQL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.</a:t>
            </a:r>
            <a:endParaRPr lang="en-US" sz="950" noProof="1"/>
          </a:p>
        </p:txBody>
      </p:sp>
      <p:sp>
        <p:nvSpPr>
          <p:cNvPr id="12" name="cv-note"/>
          <p:cNvSpPr txBox="1"/>
          <p:nvPr/>
        </p:nvSpPr>
        <p:spPr>
          <a:xfrm>
            <a:off x="812800" y="5384800"/>
            <a:ext cx="4521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Stated in the CV — these are her own words, not what the site recommends.</a:t>
            </a:r>
            <a:endParaRPr lang="en-US" sz="800" noProof="1"/>
          </a:p>
        </p:txBody>
      </p:sp>
      <p:sp>
        <p:nvSpPr>
          <p:cNvPr id="13" name="site-card"/>
          <p:cNvSpPr/>
          <p:nvPr/>
        </p:nvSpPr>
        <p:spPr>
          <a:xfrm>
            <a:off x="5740400" y="1219200"/>
            <a:ext cx="5842000" cy="467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4" name="site-title"/>
          <p:cNvSpPr txBox="1"/>
          <p:nvPr/>
        </p:nvSpPr>
        <p:spPr>
          <a:xfrm>
            <a:off x="5943600" y="1346200"/>
            <a:ext cx="54356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What the site returned — actual run, 24 Oct 2026</a:t>
            </a:r>
            <a:endParaRPr lang="en-US" sz="1300" noProof="1"/>
          </a:p>
        </p:txBody>
      </p:sp>
      <p:pic>
        <p:nvPicPr>
          <p:cNvPr id="15" name="site-shot"/>
          <p:cNvPicPr/>
          <p:nvPr/>
        </p:nvPicPr>
        <p:blipFill>
          <a:blip r:embed="rId3"/>
          <a:stretch>
            <a:fillRect/>
          </a:stretch>
        </p:blipFill>
        <p:spPr>
          <a:xfrm>
            <a:off x="5943600" y="1625600"/>
            <a:ext cx="5435600" cy="2794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16" name="site-shot-border"/>
          <p:cNvSpPr/>
          <p:nvPr/>
        </p:nvSpPr>
        <p:spPr>
          <a:xfrm>
            <a:off x="5943600" y="1625600"/>
            <a:ext cx="5435600" cy="2794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7" name="site-cap"/>
          <p:cNvSpPr txBox="1"/>
          <p:nvPr/>
        </p:nvSpPr>
        <p:spPr>
          <a:xfrm>
            <a:off x="5943600" y="4470400"/>
            <a:ext cx="54356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Screenshot: best-fit roles panel after uploading the synthetic CV (moderate-disruption scenario).</a:t>
            </a:r>
            <a:endParaRPr lang="en-US" sz="750" noProof="1"/>
          </a:p>
        </p:txBody>
      </p:sp>
      <p:sp>
        <p:nvSpPr>
          <p:cNvPr id="18" name="site-body"/>
          <p:cNvSpPr txBox="1"/>
          <p:nvPr/>
        </p:nvSpPr>
        <p:spPr>
          <a:xfrm>
            <a:off x="5943600" y="4699000"/>
            <a:ext cx="54356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Top match: Business Operations Associate — 77.3 / 100.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Site shows 100% weighted skill coverage, 0% gap cost: "the pathway is depth, not a gap."</a:t>
            </a:r>
            <a:endParaRPr lang="en-US" sz="950" noProof="1"/>
          </a:p>
          <a:p>
            <a:pPr>
              <a:lnSpc>
                <a:spcPct val="145000"/>
              </a:lnSpc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Runner-ups: Process Automation Lead 44.3 · Accounts Executive 43.4 · Customer Success Analyst 40.1.</a:t>
            </a:r>
            <a:endParaRPr lang="en-US" sz="950" noProof="1"/>
          </a:p>
        </p:txBody>
      </p:sp>
      <p:sp>
        <p:nvSpPr>
          <p:cNvPr id="19" name="foot-l"/>
          <p:cNvSpPr txBox="1"/>
          <p:nvPr/>
        </p:nvSpPr>
        <p:spPr>
          <a:xfrm>
            <a:off x="609600" y="6604000"/>
            <a:ext cx="787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20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08 / 20</a:t>
            </a:r>
            <a:endParaRPr lang="en-US" sz="750" noProof="1"/>
          </a:p>
        </p:txBody>
      </p:sp>
      <p:pic>
        <p:nvPicPr>
          <p:cNvPr id="21" name="cv-pdf-img"/>
          <p:cNvPicPr/>
          <p:nvPr/>
        </p:nvPicPr>
        <p:blipFill>
          <a:blip r:embed="rId4"/>
          <a:stretch>
            <a:fillRect/>
          </a:stretch>
        </p:blipFill>
        <p:spPr>
          <a:xfrm>
            <a:off x="3810000" y="2743200"/>
            <a:ext cx="1473200" cy="2082800"/>
          </a:xfrm>
          <a:prstGeom prst="rect">
            <a:avLst/>
          </a:prstGeom>
          <a:ln>
            <a:noFill/>
          </a:ln>
        </p:spPr>
      </p:pic>
      <p:sp>
        <p:nvSpPr>
          <p:cNvPr id="22" name="cv-pdf-img-border"/>
          <p:cNvSpPr/>
          <p:nvPr/>
        </p:nvSpPr>
        <p:spPr>
          <a:xfrm>
            <a:off x="3810000" y="2743200"/>
            <a:ext cx="1473200" cy="2082800"/>
          </a:xfrm>
          <a:prstGeom prst="rect">
            <a:avLst/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23" name="cv-pdf-cap"/>
          <p:cNvSpPr txBox="1"/>
          <p:nvPr/>
        </p:nvSpPr>
        <p:spPr>
          <a:xfrm>
            <a:off x="3708400" y="4876800"/>
            <a:ext cx="1676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 algn="ctr"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Uploaded CV — original PDF</a:t>
            </a:r>
            <a:endParaRPr lang="en-US" sz="8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10922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 2 — MID-CAREER SWITCH · UPLOADED CV — DANIEL LIM</a:t>
            </a:r>
            <a:endParaRPr lang="en-US" sz="1000" noProof="1"/>
          </a:p>
        </p:txBody>
      </p:sp>
      <p:sp>
        <p:nvSpPr>
          <p:cNvPr id="4" name="sub"/>
          <p:cNvSpPr txBox="1"/>
          <p:nvPr/>
        </p:nvSpPr>
        <p:spPr>
          <a:xfrm>
            <a:off x="609600" y="609600"/>
            <a:ext cx="1143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000000"/>
                </a:solidFill>
                <a:latin typeface="MiSans"/>
                <a:ea typeface="MiSans"/>
              </a:rPr>
              <a:t>This synthetic resume (PDF) is what a jobseeker uploads — the next page shows what the site returned for it.</a:t>
            </a:r>
            <a:endParaRPr lang="en-US" sz="850" noProof="1"/>
          </a:p>
        </p:txBody>
      </p:sp>
      <p:pic>
        <p:nvPicPr>
          <p:cNvPr id="5" name="pdf-img"/>
          <p:cNvPicPr/>
          <p:nvPr/>
        </p:nvPicPr>
        <p:blipFill>
          <a:blip r:embed="rId2"/>
          <a:stretch>
            <a:fillRect/>
          </a:stretch>
        </p:blipFill>
        <p:spPr>
          <a:xfrm>
            <a:off x="4152900" y="889000"/>
            <a:ext cx="3975100" cy="5918200"/>
          </a:xfrm>
          <a:prstGeom prst="rect">
            <a:avLst/>
          </a:prstGeom>
          <a:ln>
            <a:noFill/>
          </a:ln>
        </p:spPr>
      </p:pic>
      <p:sp>
        <p:nvSpPr>
          <p:cNvPr id="6" name="pdf-img-border"/>
          <p:cNvSpPr/>
          <p:nvPr/>
        </p:nvSpPr>
        <p:spPr>
          <a:xfrm>
            <a:off x="4152900" y="889000"/>
            <a:ext cx="3975100" cy="5918200"/>
          </a:xfrm>
          <a:prstGeom prst="rect">
            <a:avLst/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7" name="info-title"/>
          <p:cNvSpPr txBox="1"/>
          <p:nvPr/>
        </p:nvSpPr>
        <p:spPr>
          <a:xfrm>
            <a:off x="8636000" y="9398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3E4A24"/>
                </a:solidFill>
                <a:latin typeface="MiSans"/>
                <a:ea typeface="MiSans"/>
              </a:rPr>
              <a:t>About this upload</a:t>
            </a:r>
            <a:endParaRPr lang="en-US" sz="1200" noProof="1"/>
          </a:p>
        </p:txBody>
      </p:sp>
      <p:sp>
        <p:nvSpPr>
          <p:cNvPr id="8" name="info-body"/>
          <p:cNvSpPr txBox="1"/>
          <p:nvPr/>
        </p:nvSpPr>
        <p:spPr>
          <a:xfrm>
            <a:off x="8636000" y="1219200"/>
            <a:ext cx="2946400" cy="342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Entry point: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jobseeker flow → “Upload a CV” (synthetic files only · PDF / TXT / MD).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Parsing: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the site reads the CV text and pre-ticks skills in the shared 54-skill taxonomy — adjustable before matching.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Next page: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best-fit roles from an actual run on 24 Oct 2026 — scores, held skills and gaps, all traceable.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Honesty note: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nothing there is hand-written; every role, score and gap is the site’s output for this file.</a:t>
            </a:r>
            <a:endParaRPr lang="en-US" sz="850" noProof="1"/>
          </a:p>
        </p:txBody>
      </p:sp>
      <p:sp>
        <p:nvSpPr>
          <p:cNvPr id="9" name="info-chip"/>
          <p:cNvSpPr/>
          <p:nvPr/>
        </p:nvSpPr>
        <p:spPr>
          <a:xfrm>
            <a:off x="5486400" y="5689600"/>
            <a:ext cx="2159000" cy="279400"/>
          </a:xfrm>
          <a:prstGeom prst="roundRect">
            <a:avLst>
              <a:gd name="adj" fmla="val 5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10" name="info-chip-t"/>
          <p:cNvSpPr txBox="1"/>
          <p:nvPr/>
        </p:nvSpPr>
        <p:spPr>
          <a:xfrm>
            <a:off x="8636000" y="5130800"/>
            <a:ext cx="2159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800" noProof="1"/>
          </a:p>
        </p:txBody>
      </p:sp>
      <p:sp>
        <p:nvSpPr>
          <p:cNvPr id="11" name="pdf-file"/>
          <p:cNvSpPr txBox="1"/>
          <p:nvPr/>
        </p:nvSpPr>
        <p:spPr>
          <a:xfrm>
            <a:off x="8636000" y="5181600"/>
            <a:ext cx="2159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File: resume_02_mid_career.pdf · PDF · 1 page · English</a:t>
            </a:r>
            <a:endParaRPr lang="en-US" sz="750" noProof="1"/>
          </a:p>
        </p:txBody>
      </p:sp>
      <p:sp>
        <p:nvSpPr>
          <p:cNvPr id="12" name="foot-l"/>
          <p:cNvSpPr txBox="1"/>
          <p:nvPr/>
        </p:nvSpPr>
        <p:spPr>
          <a:xfrm>
            <a:off x="609600" y="6629400"/>
            <a:ext cx="3302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13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09 / 20</a:t>
            </a:r>
            <a:endParaRPr lang="en-US" sz="75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 2 — MID-CAREER SWITCH</a:t>
            </a:r>
            <a:endParaRPr lang="en-US" sz="10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584200"/>
            <a:ext cx="1016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700" noProof="1" b="1">
                <a:solidFill>
                  <a:srgbClr val="3E4A24"/>
                </a:solidFill>
                <a:latin typeface="MiSans"/>
                <a:ea typeface="MiSans"/>
              </a:rPr>
              <a:t>Daniel | Customer Operations to Analytics</a:t>
            </a:r>
            <a:endParaRPr lang="en-US" sz="2700" noProof="1"/>
          </a:p>
        </p:txBody>
      </p:sp>
      <p:pic>
        <p:nvPicPr>
          <p:cNvPr id="5" name="avatar"/>
          <p:cNvPicPr/>
          <p:nvPr/>
        </p:nvPicPr>
        <p:blipFill>
          <a:blip r:embed="rId2"/>
          <a:srcRect l="2539" r="2539"/>
          <a:stretch>
            <a:fillRect/>
          </a:stretch>
        </p:blipFill>
        <p:spPr>
          <a:xfrm>
            <a:off x="609600" y="1219200"/>
            <a:ext cx="812800" cy="812800"/>
          </a:xfrm>
          <a:prstGeom prst="ellipse">
            <a:avLst/>
          </a:prstGeom>
          <a:ln>
            <a:noFill/>
          </a:ln>
        </p:spPr>
      </p:pic>
      <p:sp>
        <p:nvSpPr>
          <p:cNvPr id="6" name="idcard"/>
          <p:cNvSpPr/>
          <p:nvPr/>
        </p:nvSpPr>
        <p:spPr>
          <a:xfrm>
            <a:off x="1574800" y="1219200"/>
            <a:ext cx="3962400" cy="812800"/>
          </a:xfrm>
          <a:prstGeom prst="roundRect">
            <a:avLst>
              <a:gd name="adj" fmla="val 1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7" name="idtext"/>
          <p:cNvSpPr txBox="1"/>
          <p:nvPr/>
        </p:nvSpPr>
        <p:spPr>
          <a:xfrm>
            <a:off x="1752600" y="1295400"/>
            <a:ext cx="36576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Daniel Lim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 · fictional persona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Customer operations supervisor, Petaling Jaya, 8 years.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850" noProof="1"/>
          </a:p>
        </p:txBody>
      </p:sp>
      <p:sp>
        <p:nvSpPr>
          <p:cNvPr id="8" name="cv-card"/>
          <p:cNvSpPr/>
          <p:nvPr/>
        </p:nvSpPr>
        <p:spPr>
          <a:xfrm>
            <a:off x="609600" y="2235200"/>
            <a:ext cx="492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9" name="cv-title"/>
          <p:cNvSpPr txBox="1"/>
          <p:nvPr/>
        </p:nvSpPr>
        <p:spPr>
          <a:xfrm>
            <a:off x="812800" y="23876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CV evidence — as written in the resume</a:t>
            </a:r>
            <a:endParaRPr lang="en-US" sz="1300" noProof="1"/>
          </a:p>
        </p:txBody>
      </p:sp>
      <p:sp>
        <p:nvSpPr>
          <p:cNvPr id="10" name="cv-rule"/>
          <p:cNvSpPr/>
          <p:nvPr/>
        </p:nvSpPr>
        <p:spPr>
          <a:xfrm>
            <a:off x="812800" y="2667000"/>
            <a:ext cx="4521200" cy="12700"/>
          </a:xfrm>
          <a:prstGeom prst="rect">
            <a:avLst/>
          </a:prstGeom>
          <a:solidFill>
            <a:srgbClr val="D8DEC9"/>
          </a:solidFill>
          <a:ln>
            <a:noFill/>
          </a:ln>
        </p:spPr>
        <p:txBody>
          <a:bodyPr/>
          <a:p/>
        </p:txBody>
      </p:sp>
      <p:sp>
        <p:nvSpPr>
          <p:cNvPr id="11" name="cv-body"/>
          <p:cNvSpPr txBox="1"/>
          <p:nvPr/>
        </p:nvSpPr>
        <p:spPr>
          <a:xfrm>
            <a:off x="812800" y="2794000"/>
            <a:ext cx="2844800" cy="248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Led an eight-person customer support team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— daily coverage, escalations, consistent service practices (2021–2026).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Excel reports and dashboards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on response times and customer feedback;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CRM records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used to surface recurring service issues.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Process-improvement work with sales and operations; trained new team members.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Direction stated in the CV: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Customer Success Analytics / Business Operations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; developing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SQL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, deepening data visualisation.</a:t>
            </a:r>
            <a:endParaRPr lang="en-US" sz="950" noProof="1"/>
          </a:p>
        </p:txBody>
      </p:sp>
      <p:sp>
        <p:nvSpPr>
          <p:cNvPr id="12" name="cv-note"/>
          <p:cNvSpPr txBox="1"/>
          <p:nvPr/>
        </p:nvSpPr>
        <p:spPr>
          <a:xfrm>
            <a:off x="812800" y="5384800"/>
            <a:ext cx="4521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Stated in the CV — the site's ranking below is generated independently from these claims.</a:t>
            </a:r>
            <a:endParaRPr lang="en-US" sz="800" noProof="1"/>
          </a:p>
        </p:txBody>
      </p:sp>
      <p:sp>
        <p:nvSpPr>
          <p:cNvPr id="13" name="site-card"/>
          <p:cNvSpPr/>
          <p:nvPr/>
        </p:nvSpPr>
        <p:spPr>
          <a:xfrm>
            <a:off x="5740400" y="1219200"/>
            <a:ext cx="5842000" cy="467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4" name="site-title"/>
          <p:cNvSpPr txBox="1"/>
          <p:nvPr/>
        </p:nvSpPr>
        <p:spPr>
          <a:xfrm>
            <a:off x="5943600" y="1346200"/>
            <a:ext cx="54356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What the site returned — actual run, 24 Oct 2026</a:t>
            </a:r>
            <a:endParaRPr lang="en-US" sz="1300" noProof="1"/>
          </a:p>
        </p:txBody>
      </p:sp>
      <p:pic>
        <p:nvPicPr>
          <p:cNvPr id="15" name="site-shot"/>
          <p:cNvPicPr/>
          <p:nvPr/>
        </p:nvPicPr>
        <p:blipFill>
          <a:blip r:embed="rId3"/>
          <a:stretch>
            <a:fillRect/>
          </a:stretch>
        </p:blipFill>
        <p:spPr>
          <a:xfrm>
            <a:off x="5943600" y="1625600"/>
            <a:ext cx="5435600" cy="2794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16" name="site-shot-border"/>
          <p:cNvSpPr/>
          <p:nvPr/>
        </p:nvSpPr>
        <p:spPr>
          <a:xfrm>
            <a:off x="5943600" y="1625600"/>
            <a:ext cx="5435600" cy="2794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7" name="site-cap"/>
          <p:cNvSpPr txBox="1"/>
          <p:nvPr/>
        </p:nvSpPr>
        <p:spPr>
          <a:xfrm>
            <a:off x="5943600" y="4470400"/>
            <a:ext cx="54356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Screenshot: best-fit roles panel — Data Steward expanded, with its evidence note.</a:t>
            </a:r>
            <a:endParaRPr lang="en-US" sz="750" noProof="1"/>
          </a:p>
        </p:txBody>
      </p:sp>
      <p:sp>
        <p:nvSpPr>
          <p:cNvPr id="18" name="site-body"/>
          <p:cNvSpPr txBox="1"/>
          <p:nvPr/>
        </p:nvSpPr>
        <p:spPr>
          <a:xfrm>
            <a:off x="5943600" y="4699000"/>
            <a:ext cx="54356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Top match: Data Steward — 58.1 / 100.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Has excel and sql; one gap to close: data visualisation (important). Pathway: about 30 weeks at 6 h/week.</a:t>
            </a:r>
            <a:endParaRPr lang="en-US" sz="950" noProof="1"/>
          </a:p>
          <a:p>
            <a:pPr>
              <a:lnSpc>
                <a:spcPct val="145000"/>
              </a:lnSpc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Runner-ups: Customer Success Analyst 57.2 · Business Operations Associate 57.1 · Guest Experience Analyst 53.4 — close to the CV's own direction.</a:t>
            </a:r>
            <a:endParaRPr lang="en-US" sz="950" noProof="1"/>
          </a:p>
        </p:txBody>
      </p:sp>
      <p:sp>
        <p:nvSpPr>
          <p:cNvPr id="19" name="foot-l"/>
          <p:cNvSpPr txBox="1"/>
          <p:nvPr/>
        </p:nvSpPr>
        <p:spPr>
          <a:xfrm>
            <a:off x="609600" y="6604000"/>
            <a:ext cx="787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20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10 / 20</a:t>
            </a:r>
            <a:endParaRPr lang="en-US" sz="750" noProof="1"/>
          </a:p>
        </p:txBody>
      </p:sp>
      <p:pic>
        <p:nvPicPr>
          <p:cNvPr id="21" name="cv-pdf-img"/>
          <p:cNvPicPr/>
          <p:nvPr/>
        </p:nvPicPr>
        <p:blipFill>
          <a:blip r:embed="rId4"/>
          <a:stretch>
            <a:fillRect/>
          </a:stretch>
        </p:blipFill>
        <p:spPr>
          <a:xfrm>
            <a:off x="3810000" y="2743200"/>
            <a:ext cx="1473200" cy="2082800"/>
          </a:xfrm>
          <a:prstGeom prst="rect">
            <a:avLst/>
          </a:prstGeom>
          <a:ln>
            <a:noFill/>
          </a:ln>
        </p:spPr>
      </p:pic>
      <p:sp>
        <p:nvSpPr>
          <p:cNvPr id="22" name="cv-pdf-img-border"/>
          <p:cNvSpPr/>
          <p:nvPr/>
        </p:nvSpPr>
        <p:spPr>
          <a:xfrm>
            <a:off x="3810000" y="2743200"/>
            <a:ext cx="1473200" cy="2082800"/>
          </a:xfrm>
          <a:prstGeom prst="rect">
            <a:avLst/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23" name="cv-pdf-cap"/>
          <p:cNvSpPr txBox="1"/>
          <p:nvPr/>
        </p:nvSpPr>
        <p:spPr>
          <a:xfrm>
            <a:off x="3708400" y="4876800"/>
            <a:ext cx="1676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 algn="ctr"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Uploaded CV — original PDF</a:t>
            </a:r>
            <a:endParaRPr lang="en-US" sz="8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10922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 3 — SENIOR LEADERSHIP · UPLOADED CV — FARID HAKIM</a:t>
            </a:r>
            <a:endParaRPr lang="en-US" sz="1000" noProof="1"/>
          </a:p>
        </p:txBody>
      </p:sp>
      <p:sp>
        <p:nvSpPr>
          <p:cNvPr id="4" name="sub"/>
          <p:cNvSpPr txBox="1"/>
          <p:nvPr/>
        </p:nvSpPr>
        <p:spPr>
          <a:xfrm>
            <a:off x="609600" y="609600"/>
            <a:ext cx="11430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000000"/>
                </a:solidFill>
                <a:latin typeface="MiSans"/>
                <a:ea typeface="MiSans"/>
              </a:rPr>
              <a:t>This synthetic resume (PDF) is what a jobseeker uploads — the next page shows what the site returned for it.</a:t>
            </a:r>
            <a:endParaRPr lang="en-US" sz="850" noProof="1"/>
          </a:p>
        </p:txBody>
      </p:sp>
      <p:pic>
        <p:nvPicPr>
          <p:cNvPr id="5" name="pdf-img"/>
          <p:cNvPicPr/>
          <p:nvPr/>
        </p:nvPicPr>
        <p:blipFill>
          <a:blip r:embed="rId2"/>
          <a:stretch>
            <a:fillRect/>
          </a:stretch>
        </p:blipFill>
        <p:spPr>
          <a:xfrm>
            <a:off x="4152900" y="889000"/>
            <a:ext cx="3975100" cy="5918200"/>
          </a:xfrm>
          <a:prstGeom prst="rect">
            <a:avLst/>
          </a:prstGeom>
          <a:ln>
            <a:noFill/>
          </a:ln>
        </p:spPr>
      </p:pic>
      <p:sp>
        <p:nvSpPr>
          <p:cNvPr id="6" name="pdf-img-border"/>
          <p:cNvSpPr/>
          <p:nvPr/>
        </p:nvSpPr>
        <p:spPr>
          <a:xfrm>
            <a:off x="4152900" y="889000"/>
            <a:ext cx="3975100" cy="5918200"/>
          </a:xfrm>
          <a:prstGeom prst="rect">
            <a:avLst/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7" name="info-title"/>
          <p:cNvSpPr txBox="1"/>
          <p:nvPr/>
        </p:nvSpPr>
        <p:spPr>
          <a:xfrm>
            <a:off x="8636000" y="9398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200" noProof="1" b="1">
                <a:solidFill>
                  <a:srgbClr val="3E4A24"/>
                </a:solidFill>
                <a:latin typeface="MiSans"/>
                <a:ea typeface="MiSans"/>
              </a:rPr>
              <a:t>About this upload</a:t>
            </a:r>
            <a:endParaRPr lang="en-US" sz="1200" noProof="1"/>
          </a:p>
        </p:txBody>
      </p:sp>
      <p:sp>
        <p:nvSpPr>
          <p:cNvPr id="8" name="info-body"/>
          <p:cNvSpPr txBox="1"/>
          <p:nvPr/>
        </p:nvSpPr>
        <p:spPr>
          <a:xfrm>
            <a:off x="8636000" y="1219200"/>
            <a:ext cx="2946400" cy="342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Entry point: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jobseeker flow → “Upload a CV” (synthetic files only · PDF / TXT / MD).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Parsing: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the site reads the CV text and pre-ticks skills in the shared 54-skill taxonomy — adjustable before matching.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Next page: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best-fit roles from an actual run on 24 Oct 2026 — scores, held skills and gaps, all traceable.</a:t>
            </a:r>
            <a:endParaRPr lang="en-US" sz="8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850" noProof="1" b="1">
                <a:solidFill>
                  <a:srgbClr val="454B36"/>
                </a:solidFill>
                <a:latin typeface="MiSans"/>
                <a:ea typeface="MiSans"/>
              </a:rPr>
              <a:t>Honesty note:</a:t>
            </a:r>
            <a:r>
              <a:rPr lang="en-US" sz="850" noProof="1">
                <a:solidFill>
                  <a:srgbClr val="454B36"/>
                </a:solidFill>
                <a:latin typeface="MiSans"/>
                <a:ea typeface="MiSans"/>
              </a:rPr>
              <a:t> nothing there is hand-written; every role, score and gap is the site’s output for this file.</a:t>
            </a:r>
            <a:endParaRPr lang="en-US" sz="850" noProof="1"/>
          </a:p>
        </p:txBody>
      </p:sp>
      <p:sp>
        <p:nvSpPr>
          <p:cNvPr id="9" name="info-chip"/>
          <p:cNvSpPr/>
          <p:nvPr/>
        </p:nvSpPr>
        <p:spPr>
          <a:xfrm>
            <a:off x="5486400" y="5689600"/>
            <a:ext cx="2159000" cy="279400"/>
          </a:xfrm>
          <a:prstGeom prst="roundRect">
            <a:avLst>
              <a:gd name="adj" fmla="val 5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10" name="info-chip-t"/>
          <p:cNvSpPr txBox="1"/>
          <p:nvPr/>
        </p:nvSpPr>
        <p:spPr>
          <a:xfrm>
            <a:off x="8636000" y="5130800"/>
            <a:ext cx="2159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 algn="ctr">
              <a:lnSpc>
                <a:spcPct val="120000"/>
              </a:lnSpc>
            </a:pPr>
            <a:r>
              <a:rPr lang="en-US" sz="800" noProof="1" b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800" noProof="1"/>
          </a:p>
        </p:txBody>
      </p:sp>
      <p:sp>
        <p:nvSpPr>
          <p:cNvPr id="11" name="pdf-file"/>
          <p:cNvSpPr txBox="1"/>
          <p:nvPr/>
        </p:nvSpPr>
        <p:spPr>
          <a:xfrm>
            <a:off x="8636000" y="5181600"/>
            <a:ext cx="2159000" cy="177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File: resume_03_senior_lead.pdf · PDF · 1 page · English</a:t>
            </a:r>
            <a:endParaRPr lang="en-US" sz="750" noProof="1"/>
          </a:p>
        </p:txBody>
      </p:sp>
      <p:sp>
        <p:nvSpPr>
          <p:cNvPr id="12" name="foot-l"/>
          <p:cNvSpPr txBox="1"/>
          <p:nvPr/>
        </p:nvSpPr>
        <p:spPr>
          <a:xfrm>
            <a:off x="609600" y="6629400"/>
            <a:ext cx="3302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13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11 / 20</a:t>
            </a:r>
            <a:endParaRPr lang="en-US" sz="75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02 · DEMO PROFILE 3 — SENIOR LEADERSHIP</a:t>
            </a:r>
            <a:endParaRPr lang="en-US" sz="10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584200"/>
            <a:ext cx="1016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700" noProof="1" b="1">
                <a:solidFill>
                  <a:srgbClr val="3E4A24"/>
                </a:solidFill>
                <a:latin typeface="MiSans"/>
                <a:ea typeface="MiSans"/>
              </a:rPr>
              <a:t>Farid | Data and Responsible AI Leadership</a:t>
            </a:r>
            <a:endParaRPr lang="en-US" sz="2700" noProof="1"/>
          </a:p>
        </p:txBody>
      </p:sp>
      <p:pic>
        <p:nvPicPr>
          <p:cNvPr id="5" name="avatar"/>
          <p:cNvPicPr/>
          <p:nvPr/>
        </p:nvPicPr>
        <p:blipFill>
          <a:blip r:embed="rId2"/>
          <a:srcRect l="2539" r="2539"/>
          <a:stretch>
            <a:fillRect/>
          </a:stretch>
        </p:blipFill>
        <p:spPr>
          <a:xfrm>
            <a:off x="609600" y="1219200"/>
            <a:ext cx="812800" cy="812800"/>
          </a:xfrm>
          <a:prstGeom prst="ellipse">
            <a:avLst/>
          </a:prstGeom>
          <a:ln>
            <a:noFill/>
          </a:ln>
        </p:spPr>
      </p:pic>
      <p:sp>
        <p:nvSpPr>
          <p:cNvPr id="6" name="idcard"/>
          <p:cNvSpPr/>
          <p:nvPr/>
        </p:nvSpPr>
        <p:spPr>
          <a:xfrm>
            <a:off x="1574800" y="1219200"/>
            <a:ext cx="3962400" cy="812800"/>
          </a:xfrm>
          <a:prstGeom prst="roundRect">
            <a:avLst>
              <a:gd name="adj" fmla="val 10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7" name="idtext"/>
          <p:cNvSpPr txBox="1"/>
          <p:nvPr/>
        </p:nvSpPr>
        <p:spPr>
          <a:xfrm>
            <a:off x="1752600" y="1295400"/>
            <a:ext cx="36576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50" noProof="1" b="1">
                <a:solidFill>
                  <a:srgbClr val="6B7256"/>
                </a:solidFill>
                <a:latin typeface="MiSans"/>
                <a:ea typeface="MiSans"/>
              </a:rPr>
              <a:t>Farid Hakim</a:t>
            </a: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 · fictional persona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Data &amp; AI operations lead, Cyberjaya, 8 years.</a:t>
            </a:r>
            <a:endParaRPr lang="en-US" sz="85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54749E"/>
                </a:solidFill>
                <a:latin typeface="MiSans"/>
                <a:ea typeface="MiSans"/>
              </a:rPr>
              <a:t>SYNTHETIC DEMO PROFILE</a:t>
            </a:r>
            <a:endParaRPr lang="en-US" sz="850" noProof="1"/>
          </a:p>
        </p:txBody>
      </p:sp>
      <p:sp>
        <p:nvSpPr>
          <p:cNvPr id="8" name="cv-card"/>
          <p:cNvSpPr/>
          <p:nvPr/>
        </p:nvSpPr>
        <p:spPr>
          <a:xfrm>
            <a:off x="609600" y="2235200"/>
            <a:ext cx="492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9" name="cv-title"/>
          <p:cNvSpPr txBox="1"/>
          <p:nvPr/>
        </p:nvSpPr>
        <p:spPr>
          <a:xfrm>
            <a:off x="812800" y="2387600"/>
            <a:ext cx="45212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CV evidence — as written in the resume</a:t>
            </a:r>
            <a:endParaRPr lang="en-US" sz="1300" noProof="1"/>
          </a:p>
        </p:txBody>
      </p:sp>
      <p:sp>
        <p:nvSpPr>
          <p:cNvPr id="10" name="cv-rule"/>
          <p:cNvSpPr/>
          <p:nvPr/>
        </p:nvSpPr>
        <p:spPr>
          <a:xfrm>
            <a:off x="812800" y="2667000"/>
            <a:ext cx="4521200" cy="12700"/>
          </a:xfrm>
          <a:prstGeom prst="rect">
            <a:avLst/>
          </a:prstGeom>
          <a:solidFill>
            <a:srgbClr val="D8DEC9"/>
          </a:solidFill>
          <a:ln>
            <a:noFill/>
          </a:ln>
        </p:spPr>
        <p:txBody>
          <a:bodyPr/>
          <a:p/>
        </p:txBody>
      </p:sp>
      <p:sp>
        <p:nvSpPr>
          <p:cNvPr id="11" name="cv-body"/>
          <p:cNvSpPr txBox="1"/>
          <p:nvPr/>
        </p:nvSpPr>
        <p:spPr>
          <a:xfrm>
            <a:off x="812800" y="2794000"/>
            <a:ext cx="2844800" cy="248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Python and SQL workflows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for reporting; planned delivery of analytics and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machine-learning prototypes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on synthetic and public datasets (2022–2026).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Cross-functional delivery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: coordinated data, product and operations from framing to stakeholder review.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Responsible AI communication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: data provenance, model limitations and operational risks explained to non-technical stakeholders.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Mentored analysts; documented repeatable reporting processes.</a:t>
            </a:r>
            <a:endParaRPr lang="en-US" sz="950" noProof="1"/>
          </a:p>
        </p:txBody>
      </p:sp>
      <p:sp>
        <p:nvSpPr>
          <p:cNvPr id="12" name="cv-note"/>
          <p:cNvSpPr txBox="1"/>
          <p:nvPr/>
        </p:nvSpPr>
        <p:spPr>
          <a:xfrm>
            <a:off x="812800" y="5384800"/>
            <a:ext cx="4521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Stated in the CV — recommendations on the right come only from the site's actual output.</a:t>
            </a:r>
            <a:endParaRPr lang="en-US" sz="800" noProof="1"/>
          </a:p>
        </p:txBody>
      </p:sp>
      <p:sp>
        <p:nvSpPr>
          <p:cNvPr id="13" name="site-card"/>
          <p:cNvSpPr/>
          <p:nvPr/>
        </p:nvSpPr>
        <p:spPr>
          <a:xfrm>
            <a:off x="5740400" y="1219200"/>
            <a:ext cx="5842000" cy="467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4" name="site-title"/>
          <p:cNvSpPr txBox="1"/>
          <p:nvPr/>
        </p:nvSpPr>
        <p:spPr>
          <a:xfrm>
            <a:off x="5943600" y="1346200"/>
            <a:ext cx="54356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What the site returned — actual run, 24 Oct 2026</a:t>
            </a:r>
            <a:endParaRPr lang="en-US" sz="1300" noProof="1"/>
          </a:p>
        </p:txBody>
      </p:sp>
      <p:pic>
        <p:nvPicPr>
          <p:cNvPr id="15" name="site-shot"/>
          <p:cNvPicPr/>
          <p:nvPr/>
        </p:nvPicPr>
        <p:blipFill>
          <a:blip r:embed="rId3"/>
          <a:stretch>
            <a:fillRect/>
          </a:stretch>
        </p:blipFill>
        <p:spPr>
          <a:xfrm>
            <a:off x="5943600" y="1625600"/>
            <a:ext cx="5435600" cy="2794000"/>
          </a:xfrm>
          <a:prstGeom prst="roundRect">
            <a:avLst>
              <a:gd name="adj" fmla="val 4000"/>
            </a:avLst>
          </a:prstGeom>
          <a:ln>
            <a:noFill/>
          </a:ln>
        </p:spPr>
      </p:pic>
      <p:sp>
        <p:nvSpPr>
          <p:cNvPr id="16" name="site-shot-border"/>
          <p:cNvSpPr/>
          <p:nvPr/>
        </p:nvSpPr>
        <p:spPr>
          <a:xfrm>
            <a:off x="5943600" y="1625600"/>
            <a:ext cx="5435600" cy="27940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7" name="site-cap"/>
          <p:cNvSpPr txBox="1"/>
          <p:nvPr/>
        </p:nvSpPr>
        <p:spPr>
          <a:xfrm>
            <a:off x="5943600" y="4470400"/>
            <a:ext cx="54356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Screenshot: best-fit roles panel for the uploaded synthetic CV.</a:t>
            </a:r>
            <a:endParaRPr lang="en-US" sz="750" noProof="1"/>
          </a:p>
        </p:txBody>
      </p:sp>
      <p:sp>
        <p:nvSpPr>
          <p:cNvPr id="18" name="site-body"/>
          <p:cNvSpPr txBox="1"/>
          <p:nvPr/>
        </p:nvSpPr>
        <p:spPr>
          <a:xfrm>
            <a:off x="5943600" y="4699000"/>
            <a:ext cx="54356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Top match: Machine Learning Engineer — 45.8 / 100.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Has python and sql; one core gap: machine learning. Gap step about 1 week at 5 h/week; full route shown: 5 weeks.</a:t>
            </a:r>
            <a:endParaRPr lang="en-US" sz="950" noProof="1"/>
          </a:p>
          <a:p>
            <a:pPr>
              <a:lnSpc>
                <a:spcPct val="145000"/>
              </a:lnSpc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Runner-ups: Health Informatics Officer 45.8 (tied) · Student Success Adviser 44.1 · Guest Experience Analyst 43.3.</a:t>
            </a:r>
            <a:endParaRPr lang="en-US" sz="950" noProof="1"/>
          </a:p>
          <a:p>
            <a:pPr>
              <a:lnSpc>
                <a:spcPct val="145000"/>
              </a:lnSpc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Senior evidence does not inflate the score — a missing core requirement keeps it modest.</a:t>
            </a:r>
            <a:endParaRPr lang="en-US" sz="950" noProof="1"/>
          </a:p>
        </p:txBody>
      </p:sp>
      <p:sp>
        <p:nvSpPr>
          <p:cNvPr id="19" name="foot-l"/>
          <p:cNvSpPr txBox="1"/>
          <p:nvPr/>
        </p:nvSpPr>
        <p:spPr>
          <a:xfrm>
            <a:off x="609600" y="6604000"/>
            <a:ext cx="787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20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12 / 20</a:t>
            </a:r>
            <a:endParaRPr lang="en-US" sz="750" noProof="1"/>
          </a:p>
        </p:txBody>
      </p:sp>
      <p:pic>
        <p:nvPicPr>
          <p:cNvPr id="21" name="cv-pdf-img"/>
          <p:cNvPicPr/>
          <p:nvPr/>
        </p:nvPicPr>
        <p:blipFill>
          <a:blip r:embed="rId4"/>
          <a:stretch>
            <a:fillRect/>
          </a:stretch>
        </p:blipFill>
        <p:spPr>
          <a:xfrm>
            <a:off x="3810000" y="2743200"/>
            <a:ext cx="1473200" cy="2082800"/>
          </a:xfrm>
          <a:prstGeom prst="rect">
            <a:avLst/>
          </a:prstGeom>
          <a:ln>
            <a:noFill/>
          </a:ln>
        </p:spPr>
      </p:pic>
      <p:sp>
        <p:nvSpPr>
          <p:cNvPr id="22" name="cv-pdf-img-border"/>
          <p:cNvSpPr/>
          <p:nvPr/>
        </p:nvSpPr>
        <p:spPr>
          <a:xfrm>
            <a:off x="3810000" y="2743200"/>
            <a:ext cx="1473200" cy="2082800"/>
          </a:xfrm>
          <a:prstGeom prst="rect">
            <a:avLst/>
          </a:prstGeom>
          <a:noFill/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23" name="cv-pdf-cap"/>
          <p:cNvSpPr txBox="1"/>
          <p:nvPr/>
        </p:nvSpPr>
        <p:spPr>
          <a:xfrm>
            <a:off x="3708400" y="4876800"/>
            <a:ext cx="1676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 algn="ctr"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Uploaded CV — original PDF</a:t>
            </a:r>
            <a:endParaRPr lang="en-US" sz="8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03 · OUR SOLUTION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One web app, four steps from here to your next role</a:t>
            </a:r>
            <a:endParaRPr lang="en-US" sz="2700" noProof="1"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2486660" cy="288036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1079500" y="21488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400" noProof="1" b="1" i="0">
                <a:solidFill>
                  <a:srgbClr val="8A9A5B"/>
                </a:solidFill>
                <a:latin typeface="Arial"/>
                <a:ea typeface="Arial"/>
              </a:rPr>
              <a:t>01</a:t>
            </a:r>
            <a:endParaRPr lang="en-US" sz="2400" noProof="1"/>
          </a:p>
        </p:txBody>
      </p:sp>
      <p:sp>
        <p:nvSpPr>
          <p:cNvPr id="8" name="TextBox 7"/>
          <p:cNvSpPr txBox="1"/>
          <p:nvPr/>
        </p:nvSpPr>
        <p:spPr>
          <a:xfrm>
            <a:off x="1079500" y="26974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50" noProof="1" b="1" i="0">
                <a:solidFill>
                  <a:srgbClr val="4B5A2A"/>
                </a:solidFill>
                <a:latin typeface="Arial"/>
                <a:ea typeface="Arial"/>
              </a:rPr>
              <a:t>Tell us who you are</a:t>
            </a:r>
            <a:endParaRPr lang="en-US" sz="1350" noProof="1"/>
          </a:p>
        </p:txBody>
      </p:sp>
      <p:sp>
        <p:nvSpPr>
          <p:cNvPr id="9" name="TextBox 8"/>
          <p:cNvSpPr txBox="1"/>
          <p:nvPr/>
        </p:nvSpPr>
        <p:spPr>
          <a:xfrm>
            <a:off x="1079500" y="3309620"/>
            <a:ext cx="201168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Upload a CV or answer a 3-minute questionnaire — get a structured skills profile.</a:t>
            </a:r>
            <a:endParaRPr lang="en-US" sz="1050" noProof="1"/>
          </a:p>
        </p:txBody>
      </p:sp>
      <p:sp>
        <p:nvSpPr>
          <p:cNvPr id="10" name="TextBox 9"/>
          <p:cNvSpPr txBox="1"/>
          <p:nvPr/>
        </p:nvSpPr>
        <p:spPr>
          <a:xfrm>
            <a:off x="3309620" y="3063240"/>
            <a:ext cx="25654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20000"/>
              </a:lnSpc>
            </a:pPr>
            <a:r>
              <a:rPr lang="en-US" sz="1800" noProof="1" b="1" i="0">
                <a:solidFill>
                  <a:srgbClr val="8A9A5B"/>
                </a:solidFill>
                <a:latin typeface="Arial"/>
                <a:ea typeface="Arial"/>
              </a:rPr>
              <a:t>→</a:t>
            </a:r>
            <a:endParaRPr lang="en-US" sz="1800" noProof="1"/>
          </a:p>
        </p:txBody>
      </p:sp>
      <p:sp>
        <p:nvSpPr>
          <p:cNvPr id="11" name="Rounded Rectangle 10"/>
          <p:cNvSpPr/>
          <p:nvPr/>
        </p:nvSpPr>
        <p:spPr>
          <a:xfrm>
            <a:off x="3538220" y="1920240"/>
            <a:ext cx="2486660" cy="2880360"/>
          </a:xfrm>
          <a:prstGeom prst="roundRect">
            <a:avLst>
              <a:gd name="adj" fmla="val 7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12" name="TextBox 11"/>
          <p:cNvSpPr txBox="1"/>
          <p:nvPr/>
        </p:nvSpPr>
        <p:spPr>
          <a:xfrm>
            <a:off x="3794760" y="21488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400" noProof="1" b="1" i="0">
                <a:solidFill>
                  <a:srgbClr val="8A9A5B"/>
                </a:solidFill>
                <a:latin typeface="Arial"/>
                <a:ea typeface="Arial"/>
              </a:rPr>
              <a:t>02</a:t>
            </a:r>
            <a:endParaRPr lang="en-US" sz="2400" noProof="1"/>
          </a:p>
        </p:txBody>
      </p:sp>
      <p:sp>
        <p:nvSpPr>
          <p:cNvPr id="13" name="TextBox 12"/>
          <p:cNvSpPr txBox="1"/>
          <p:nvPr/>
        </p:nvSpPr>
        <p:spPr>
          <a:xfrm>
            <a:off x="3794760" y="26974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50" noProof="1" b="1" i="0">
                <a:solidFill>
                  <a:srgbClr val="4B5A2A"/>
                </a:solidFill>
                <a:latin typeface="Arial"/>
                <a:ea typeface="Arial"/>
              </a:rPr>
              <a:t>See the market evidence</a:t>
            </a:r>
            <a:endParaRPr lang="en-US" sz="1350" noProof="1"/>
          </a:p>
        </p:txBody>
      </p:sp>
      <p:sp>
        <p:nvSpPr>
          <p:cNvPr id="14" name="TextBox 13"/>
          <p:cNvSpPr txBox="1"/>
          <p:nvPr/>
        </p:nvSpPr>
        <p:spPr>
          <a:xfrm>
            <a:off x="3794760" y="3309620"/>
            <a:ext cx="201168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A versioned trend layer of dated, linked sources: job offerings, named-skill signals, global forecasts.</a:t>
            </a:r>
            <a:endParaRPr lang="en-US" sz="1050" noProof="1"/>
          </a:p>
        </p:txBody>
      </p:sp>
      <p:sp>
        <p:nvSpPr>
          <p:cNvPr id="15" name="TextBox 14"/>
          <p:cNvSpPr txBox="1"/>
          <p:nvPr/>
        </p:nvSpPr>
        <p:spPr>
          <a:xfrm>
            <a:off x="6026150" y="3063240"/>
            <a:ext cx="25654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20000"/>
              </a:lnSpc>
            </a:pPr>
            <a:r>
              <a:rPr lang="en-US" sz="1800" noProof="1" b="1" i="0">
                <a:solidFill>
                  <a:srgbClr val="8A9A5B"/>
                </a:solidFill>
                <a:latin typeface="Arial"/>
                <a:ea typeface="Arial"/>
              </a:rPr>
              <a:t>→</a:t>
            </a:r>
            <a:endParaRPr lang="en-US" sz="1800" noProof="1"/>
          </a:p>
        </p:txBody>
      </p:sp>
      <p:sp>
        <p:nvSpPr>
          <p:cNvPr id="16" name="Rounded Rectangle 15"/>
          <p:cNvSpPr/>
          <p:nvPr/>
        </p:nvSpPr>
        <p:spPr>
          <a:xfrm>
            <a:off x="6254750" y="1920240"/>
            <a:ext cx="2486660" cy="288036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6510020" y="21488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400" noProof="1" b="1" i="0">
                <a:solidFill>
                  <a:srgbClr val="8A9A5B"/>
                </a:solidFill>
                <a:latin typeface="Arial"/>
                <a:ea typeface="Arial"/>
              </a:rPr>
              <a:t>03</a:t>
            </a:r>
            <a:endParaRPr lang="en-US" sz="2400" noProof="1"/>
          </a:p>
        </p:txBody>
      </p:sp>
      <p:sp>
        <p:nvSpPr>
          <p:cNvPr id="18" name="TextBox 17"/>
          <p:cNvSpPr txBox="1"/>
          <p:nvPr/>
        </p:nvSpPr>
        <p:spPr>
          <a:xfrm>
            <a:off x="6510020" y="26974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50" noProof="1" b="1" i="0">
                <a:solidFill>
                  <a:srgbClr val="4B5A2A"/>
                </a:solidFill>
                <a:latin typeface="Arial"/>
                <a:ea typeface="Arial"/>
              </a:rPr>
              <a:t>Get matched roles</a:t>
            </a:r>
            <a:endParaRPr lang="en-US" sz="1350" noProof="1"/>
          </a:p>
        </p:txBody>
      </p:sp>
      <p:sp>
        <p:nvSpPr>
          <p:cNvPr id="19" name="TextBox 18"/>
          <p:cNvSpPr txBox="1"/>
          <p:nvPr/>
        </p:nvSpPr>
        <p:spPr>
          <a:xfrm>
            <a:off x="6510020" y="3309620"/>
            <a:ext cx="201168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Future roles ranked by an explainable score, with your skill gaps spelled out.</a:t>
            </a:r>
            <a:endParaRPr lang="en-US" sz="1050" noProof="1"/>
          </a:p>
        </p:txBody>
      </p:sp>
      <p:sp>
        <p:nvSpPr>
          <p:cNvPr id="20" name="TextBox 19"/>
          <p:cNvSpPr txBox="1"/>
          <p:nvPr/>
        </p:nvSpPr>
        <p:spPr>
          <a:xfrm>
            <a:off x="8741410" y="3063240"/>
            <a:ext cx="25654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20000"/>
              </a:lnSpc>
            </a:pPr>
            <a:r>
              <a:rPr lang="en-US" sz="1800" noProof="1" b="1" i="0">
                <a:solidFill>
                  <a:srgbClr val="8A9A5B"/>
                </a:solidFill>
                <a:latin typeface="Arial"/>
                <a:ea typeface="Arial"/>
              </a:rPr>
              <a:t>→</a:t>
            </a:r>
            <a:endParaRPr lang="en-US" sz="1800" noProof="1"/>
          </a:p>
        </p:txBody>
      </p:sp>
      <p:sp>
        <p:nvSpPr>
          <p:cNvPr id="21" name="Rounded Rectangle 20"/>
          <p:cNvSpPr/>
          <p:nvPr/>
        </p:nvSpPr>
        <p:spPr>
          <a:xfrm>
            <a:off x="8970010" y="1920240"/>
            <a:ext cx="2486660" cy="2880360"/>
          </a:xfrm>
          <a:prstGeom prst="roundRect">
            <a:avLst>
              <a:gd name="adj" fmla="val 7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22" name="TextBox 21"/>
          <p:cNvSpPr txBox="1"/>
          <p:nvPr/>
        </p:nvSpPr>
        <p:spPr>
          <a:xfrm>
            <a:off x="9226550" y="21488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400" noProof="1" b="1" i="0">
                <a:solidFill>
                  <a:srgbClr val="8A9A5B"/>
                </a:solidFill>
                <a:latin typeface="Arial"/>
                <a:ea typeface="Arial"/>
              </a:rPr>
              <a:t>04</a:t>
            </a:r>
            <a:endParaRPr lang="en-US" sz="2400" noProof="1"/>
          </a:p>
        </p:txBody>
      </p:sp>
      <p:sp>
        <p:nvSpPr>
          <p:cNvPr id="23" name="TextBox 22"/>
          <p:cNvSpPr txBox="1"/>
          <p:nvPr/>
        </p:nvSpPr>
        <p:spPr>
          <a:xfrm>
            <a:off x="9226550" y="26974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50" noProof="1" b="1" i="0">
                <a:solidFill>
                  <a:srgbClr val="4B5A2A"/>
                </a:solidFill>
                <a:latin typeface="Arial"/>
                <a:ea typeface="Arial"/>
              </a:rPr>
              <a:t>Follow your pathway</a:t>
            </a:r>
            <a:endParaRPr lang="en-US" sz="1350" noProof="1"/>
          </a:p>
        </p:txBody>
      </p:sp>
      <p:sp>
        <p:nvSpPr>
          <p:cNvPr id="24" name="TextBox 23"/>
          <p:cNvSpPr txBox="1"/>
          <p:nvPr/>
        </p:nvSpPr>
        <p:spPr>
          <a:xfrm>
            <a:off x="9226550" y="3309620"/>
            <a:ext cx="201168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An ordered learning plan with weekly steps, free or low-cost resources and SDG tags.</a:t>
            </a:r>
            <a:endParaRPr lang="en-US" sz="1050" noProof="1"/>
          </a:p>
        </p:txBody>
      </p:sp>
      <p:sp>
        <p:nvSpPr>
          <p:cNvPr id="25" name="TextBox 24"/>
          <p:cNvSpPr txBox="1"/>
          <p:nvPr/>
        </p:nvSpPr>
        <p:spPr>
          <a:xfrm>
            <a:off x="822960" y="5166360"/>
            <a:ext cx="1054354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Design principles — every recommendation is explainable and source-traceable; forecasts come as scenarios and are labelled as estimates. The judgement stays with the person, not the algorithm.</a:t>
            </a:r>
            <a:endParaRPr lang="en-US" sz="1150" noProof="1"/>
          </a:p>
        </p:txBody>
      </p:sp>
      <p:sp>
        <p:nvSpPr>
          <p:cNvPr id="26" name="Rectangle 25"/>
          <p:cNvSpPr/>
          <p:nvPr/>
        </p:nvSpPr>
        <p:spPr>
          <a:xfrm>
            <a:off x="859790" y="5029200"/>
            <a:ext cx="548640" cy="4572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7" name="Rectangle 26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8" name="TextBox 2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29" name="TextBox 28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13 / 20</a:t>
            </a:r>
            <a:endParaRPr lang="en-US" sz="100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04 · KEY FEATURES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The six must-haves — all running in the live demo</a:t>
            </a:r>
            <a:endParaRPr lang="en-US" sz="2700" noProof="1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319780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7" name="Oval 6-shape"/>
          <p:cNvSpPr/>
          <p:nvPr/>
        </p:nvSpPr>
        <p:spPr>
          <a:xfrm>
            <a:off x="1097280" y="2020570"/>
            <a:ext cx="311150" cy="31115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8" name="Oval 6-text"/>
          <p:cNvSpPr txBox="1"/>
          <p:nvPr/>
        </p:nvSpPr>
        <p:spPr>
          <a:xfrm>
            <a:off x="1097280" y="2020570"/>
            <a:ext cx="31115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noProof="1"/>
          </a:p>
        </p:txBody>
      </p:sp>
      <p:sp>
        <p:nvSpPr>
          <p:cNvPr id="9" name="TextBox 7"/>
          <p:cNvSpPr txBox="1"/>
          <p:nvPr/>
        </p:nvSpPr>
        <p:spPr>
          <a:xfrm>
            <a:off x="1536700" y="203962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Skills profile intake</a:t>
            </a:r>
            <a:endParaRPr lang="en-US" sz="1300" noProof="1"/>
          </a:p>
        </p:txBody>
      </p:sp>
      <p:sp>
        <p:nvSpPr>
          <p:cNvPr id="10" name="TextBox 8"/>
          <p:cNvSpPr txBox="1"/>
          <p:nvPr/>
        </p:nvSpPr>
        <p:spPr>
          <a:xfrm>
            <a:off x="1097280" y="2496820"/>
            <a:ext cx="278892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Questionnaire + synthetic CV parsing into a shared 54-skill taxonomy.</a:t>
            </a:r>
            <a:endParaRPr lang="en-US" sz="1050" noProof="1"/>
          </a:p>
        </p:txBody>
      </p:sp>
      <p:sp>
        <p:nvSpPr>
          <p:cNvPr id="11" name="Rounded Rectangle 9"/>
          <p:cNvSpPr/>
          <p:nvPr/>
        </p:nvSpPr>
        <p:spPr>
          <a:xfrm>
            <a:off x="4434840" y="1783080"/>
            <a:ext cx="3319780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2" name="Oval 10-shape"/>
          <p:cNvSpPr/>
          <p:nvPr/>
        </p:nvSpPr>
        <p:spPr>
          <a:xfrm>
            <a:off x="4709160" y="2020570"/>
            <a:ext cx="311150" cy="31115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3" name="Oval 10-text"/>
          <p:cNvSpPr txBox="1"/>
          <p:nvPr/>
        </p:nvSpPr>
        <p:spPr>
          <a:xfrm>
            <a:off x="4709160" y="2020570"/>
            <a:ext cx="31115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noProof="1"/>
          </a:p>
        </p:txBody>
      </p:sp>
      <p:sp>
        <p:nvSpPr>
          <p:cNvPr id="14" name="TextBox 11"/>
          <p:cNvSpPr txBox="1"/>
          <p:nvPr/>
        </p:nvSpPr>
        <p:spPr>
          <a:xfrm>
            <a:off x="5148580" y="203962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AI-trend signal layer</a:t>
            </a:r>
            <a:endParaRPr lang="en-US" sz="1300" noProof="1"/>
          </a:p>
        </p:txBody>
      </p:sp>
      <p:sp>
        <p:nvSpPr>
          <p:cNvPr id="15" name="TextBox 12"/>
          <p:cNvSpPr txBox="1"/>
          <p:nvPr/>
        </p:nvSpPr>
        <p:spPr>
          <a:xfrm>
            <a:off x="4709160" y="2496820"/>
            <a:ext cx="278892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Dated, linked snapshots: DOSM job offerings, JobStreet–Randstad 2025, WEF 2025.</a:t>
            </a:r>
            <a:endParaRPr lang="en-US" sz="1050" noProof="1"/>
          </a:p>
        </p:txBody>
      </p:sp>
      <p:sp>
        <p:nvSpPr>
          <p:cNvPr id="16" name="Rounded Rectangle 13"/>
          <p:cNvSpPr/>
          <p:nvPr/>
        </p:nvSpPr>
        <p:spPr>
          <a:xfrm>
            <a:off x="8046720" y="1783080"/>
            <a:ext cx="3319780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7" name="Oval 14-shape"/>
          <p:cNvSpPr/>
          <p:nvPr/>
        </p:nvSpPr>
        <p:spPr>
          <a:xfrm>
            <a:off x="8321040" y="2020570"/>
            <a:ext cx="311150" cy="31115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8" name="Oval 14-text"/>
          <p:cNvSpPr txBox="1"/>
          <p:nvPr/>
        </p:nvSpPr>
        <p:spPr>
          <a:xfrm>
            <a:off x="8321040" y="2020570"/>
            <a:ext cx="31115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noProof="1"/>
          </a:p>
        </p:txBody>
      </p:sp>
      <p:sp>
        <p:nvSpPr>
          <p:cNvPr id="19" name="TextBox 15"/>
          <p:cNvSpPr txBox="1"/>
          <p:nvPr/>
        </p:nvSpPr>
        <p:spPr>
          <a:xfrm>
            <a:off x="8760460" y="203962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Future-role matching</a:t>
            </a:r>
            <a:endParaRPr lang="en-US" sz="1300" noProof="1"/>
          </a:p>
        </p:txBody>
      </p:sp>
      <p:sp>
        <p:nvSpPr>
          <p:cNvPr id="20" name="TextBox 16"/>
          <p:cNvSpPr txBox="1"/>
          <p:nvPr/>
        </p:nvSpPr>
        <p:spPr>
          <a:xfrm>
            <a:off x="8321040" y="2496820"/>
            <a:ext cx="278892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Explainable score decomposed into five auditable inputs.</a:t>
            </a:r>
            <a:endParaRPr lang="en-US" sz="1050" noProof="1"/>
          </a:p>
        </p:txBody>
      </p:sp>
      <p:sp>
        <p:nvSpPr>
          <p:cNvPr id="21" name="Rounded Rectangle 17"/>
          <p:cNvSpPr/>
          <p:nvPr/>
        </p:nvSpPr>
        <p:spPr>
          <a:xfrm>
            <a:off x="822960" y="3703320"/>
            <a:ext cx="3319780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2" name="Oval 18-shape"/>
          <p:cNvSpPr/>
          <p:nvPr/>
        </p:nvSpPr>
        <p:spPr>
          <a:xfrm>
            <a:off x="1097280" y="3940810"/>
            <a:ext cx="311150" cy="31115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3" name="Oval 18-text"/>
          <p:cNvSpPr txBox="1"/>
          <p:nvPr/>
        </p:nvSpPr>
        <p:spPr>
          <a:xfrm>
            <a:off x="1097280" y="3940810"/>
            <a:ext cx="31115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noProof="1"/>
          </a:p>
        </p:txBody>
      </p:sp>
      <p:sp>
        <p:nvSpPr>
          <p:cNvPr id="24" name="TextBox 19"/>
          <p:cNvSpPr txBox="1"/>
          <p:nvPr/>
        </p:nvSpPr>
        <p:spPr>
          <a:xfrm>
            <a:off x="1536700" y="395986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Personalised pathway</a:t>
            </a:r>
            <a:endParaRPr lang="en-US" sz="1300" noProof="1"/>
          </a:p>
        </p:txBody>
      </p:sp>
      <p:sp>
        <p:nvSpPr>
          <p:cNvPr id="25" name="TextBox 20"/>
          <p:cNvSpPr txBox="1"/>
          <p:nvPr/>
        </p:nvSpPr>
        <p:spPr>
          <a:xfrm>
            <a:off x="1097280" y="4417060"/>
            <a:ext cx="278892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Ordered weekly steps toward free / low-cost courses; 60 course links covering all 54 skills.</a:t>
            </a:r>
            <a:endParaRPr lang="en-US" sz="1050" noProof="1"/>
          </a:p>
        </p:txBody>
      </p:sp>
      <p:sp>
        <p:nvSpPr>
          <p:cNvPr id="26" name="Rounded Rectangle 21"/>
          <p:cNvSpPr/>
          <p:nvPr/>
        </p:nvSpPr>
        <p:spPr>
          <a:xfrm>
            <a:off x="4434840" y="3703320"/>
            <a:ext cx="3319780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7" name="Oval 22-shape"/>
          <p:cNvSpPr/>
          <p:nvPr/>
        </p:nvSpPr>
        <p:spPr>
          <a:xfrm>
            <a:off x="4709160" y="3940810"/>
            <a:ext cx="311150" cy="31115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8" name="Oval 22-text"/>
          <p:cNvSpPr txBox="1"/>
          <p:nvPr/>
        </p:nvSpPr>
        <p:spPr>
          <a:xfrm>
            <a:off x="4709160" y="3940810"/>
            <a:ext cx="31115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noProof="1"/>
          </a:p>
        </p:txBody>
      </p:sp>
      <p:sp>
        <p:nvSpPr>
          <p:cNvPr id="29" name="TextBox 23"/>
          <p:cNvSpPr txBox="1"/>
          <p:nvPr/>
        </p:nvSpPr>
        <p:spPr>
          <a:xfrm>
            <a:off x="5148580" y="395986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SDG mapping</a:t>
            </a:r>
            <a:endParaRPr lang="en-US" sz="1300" noProof="1"/>
          </a:p>
        </p:txBody>
      </p:sp>
      <p:sp>
        <p:nvSpPr>
          <p:cNvPr id="30" name="TextBox 24"/>
          <p:cNvSpPr txBox="1"/>
          <p:nvPr/>
        </p:nvSpPr>
        <p:spPr>
          <a:xfrm>
            <a:off x="4709160" y="4417060"/>
            <a:ext cx="278892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Role-level SDG tags plus a skill-to-target crosswalk, labelled as the team's own reading.</a:t>
            </a:r>
            <a:endParaRPr lang="en-US" sz="1050" noProof="1"/>
          </a:p>
        </p:txBody>
      </p:sp>
      <p:sp>
        <p:nvSpPr>
          <p:cNvPr id="31" name="Rounded Rectangle 25"/>
          <p:cNvSpPr/>
          <p:nvPr/>
        </p:nvSpPr>
        <p:spPr>
          <a:xfrm>
            <a:off x="8046720" y="3703320"/>
            <a:ext cx="3319780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32" name="Oval 26-shape"/>
          <p:cNvSpPr/>
          <p:nvPr/>
        </p:nvSpPr>
        <p:spPr>
          <a:xfrm>
            <a:off x="8321040" y="3940810"/>
            <a:ext cx="311150" cy="31115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33" name="Oval 26-text"/>
          <p:cNvSpPr txBox="1"/>
          <p:nvPr/>
        </p:nvSpPr>
        <p:spPr>
          <a:xfrm>
            <a:off x="8321040" y="3940810"/>
            <a:ext cx="311150" cy="31115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noProof="1"/>
          </a:p>
        </p:txBody>
      </p:sp>
      <p:sp>
        <p:nvSpPr>
          <p:cNvPr id="34" name="TextBox 27"/>
          <p:cNvSpPr txBox="1"/>
          <p:nvPr/>
        </p:nvSpPr>
        <p:spPr>
          <a:xfrm>
            <a:off x="8760460" y="395986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Uncertainty handled</a:t>
            </a:r>
            <a:endParaRPr lang="en-US" sz="1300" noProof="1"/>
          </a:p>
        </p:txBody>
      </p:sp>
      <p:sp>
        <p:nvSpPr>
          <p:cNvPr id="35" name="TextBox 28"/>
          <p:cNvSpPr txBox="1"/>
          <p:nvPr/>
        </p:nvSpPr>
        <p:spPr>
          <a:xfrm>
            <a:off x="8321040" y="4417060"/>
            <a:ext cx="278892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Moderate vs fast disruption scenarios; every forecast marked as an estimate.</a:t>
            </a:r>
            <a:endParaRPr lang="en-US" sz="1050" noProof="1"/>
          </a:p>
        </p:txBody>
      </p:sp>
      <p:sp>
        <p:nvSpPr>
          <p:cNvPr id="36" name="Rounded Rectangle 29"/>
          <p:cNvSpPr/>
          <p:nvPr/>
        </p:nvSpPr>
        <p:spPr>
          <a:xfrm>
            <a:off x="822960" y="5623560"/>
            <a:ext cx="10543540" cy="457200"/>
          </a:xfrm>
          <a:prstGeom prst="roundRect">
            <a:avLst>
              <a:gd name="adj" fmla="val 50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37" name="TextBox 30"/>
          <p:cNvSpPr txBox="1"/>
          <p:nvPr/>
        </p:nvSpPr>
        <p:spPr>
          <a:xfrm>
            <a:off x="1097280" y="56235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050" noProof="1" b="1" i="0">
                <a:solidFill>
                  <a:srgbClr val="3F4A26"/>
                </a:solidFill>
                <a:latin typeface="Arial"/>
                <a:ea typeface="Arial"/>
              </a:rPr>
              <a:t>Beyond the checklist: HR team gap heatmap · evidence-source robustness check · trilingual EN / BM / 中文 · low-bandwidth friendly.</a:t>
            </a:r>
            <a:endParaRPr lang="en-US" sz="1050" noProof="1"/>
          </a:p>
        </p:txBody>
      </p:sp>
      <p:sp>
        <p:nvSpPr>
          <p:cNvPr id="38" name="Rectangle 31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39" name="TextBox 32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40" name="TextBox 33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14 / 20</a:t>
            </a:r>
            <a:endParaRPr lang="en-US" sz="100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05 · EXPLAINABLE SCORING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One score, five inputs — auditable to the source</a:t>
            </a:r>
            <a:endParaRPr lang="en-US" sz="2700" noProof="1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846320" cy="228600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950" noProof="1" b="1" i="0" spc="150" kern="0">
                <a:solidFill>
                  <a:srgbClr val="7A8663"/>
                </a:solidFill>
                <a:latin typeface="Arial"/>
                <a:ea typeface="Arial"/>
              </a:rPr>
              <a:t>THE MODEL (AS SHIPPED IN THE DEMO)</a:t>
            </a:r>
            <a:endParaRPr lang="en-US" sz="950" noProof="1"/>
          </a:p>
        </p:txBody>
      </p:sp>
      <p:sp>
        <p:nvSpPr>
          <p:cNvPr id="8" name="TextBox 7"/>
          <p:cNvSpPr txBox="1"/>
          <p:nvPr/>
        </p:nvSpPr>
        <p:spPr>
          <a:xfrm>
            <a:off x="1143000" y="2395220"/>
            <a:ext cx="4297680" cy="1463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score = 0.30 · skill coverage</a:t>
            </a:r>
            <a:endParaRPr lang="en-US" sz="1500" noProof="1"/>
          </a:p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      + 0.25 · role focus</a:t>
            </a:r>
            <a:endParaRPr lang="en-US" sz="1500" noProof="1"/>
          </a:p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      + 0.15 · transferability + 0.15 · demand trend</a:t>
            </a:r>
            <a:endParaRPr lang="en-US" sz="1500" noProof="1"/>
          </a:p>
          <a:p>
            <a:pPr algn="l">
              <a:lnSpc>
                <a:spcPct val="120000"/>
              </a:lnSpc>
            </a:pPr>
            <a:r>
              <a:rPr lang="en-US" sz="1500" noProof="1" b="1" i="0">
                <a:solidFill>
                  <a:srgbClr val="4B5A2A"/>
                </a:solidFill>
                <a:latin typeface="Arial"/>
                <a:ea typeface="Arial"/>
              </a:rPr>
              <a:t>      + 0.15 · (1 − gap cost)</a:t>
            </a:r>
            <a:endParaRPr lang="en-US" sz="1500" noProof="1"/>
          </a:p>
        </p:txBody>
      </p:sp>
      <p:sp>
        <p:nvSpPr>
          <p:cNvPr id="9" name="TextBox 8"/>
          <p:cNvSpPr txBox="1"/>
          <p:nvPr/>
        </p:nvSpPr>
        <p:spPr>
          <a:xfrm>
            <a:off x="1143000" y="3914140"/>
            <a:ext cx="434340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Fast-disruption scenario re-weights toward trend (0.35) and penalises flat or declining roles — the toggle is visible in the demo.</a:t>
            </a:r>
            <a:endParaRPr lang="en-US" sz="1050" noProof="1"/>
          </a:p>
        </p:txBody>
      </p:sp>
      <p:sp>
        <p:nvSpPr>
          <p:cNvPr id="10" name="Rounded Rectangle 9"/>
          <p:cNvSpPr/>
          <p:nvPr/>
        </p:nvSpPr>
        <p:spPr>
          <a:xfrm>
            <a:off x="822960" y="4617720"/>
            <a:ext cx="4846320" cy="1234440"/>
          </a:xfrm>
          <a:prstGeom prst="roundRect">
            <a:avLst>
              <a:gd name="adj" fmla="val 10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11" name="TextBox 10"/>
          <p:cNvSpPr txBox="1"/>
          <p:nvPr/>
        </p:nvSpPr>
        <p:spPr>
          <a:xfrm>
            <a:off x="1143000" y="4800600"/>
            <a:ext cx="429768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 b="1" i="0">
                <a:solidFill>
                  <a:srgbClr val="3F4A26"/>
                </a:solidFill>
                <a:latin typeface="Arial"/>
                <a:ea typeface="Arial"/>
              </a:rPr>
              <a:t>Every input opens in the UI</a:t>
            </a:r>
            <a:endParaRPr lang="en-US" sz="1600" noProof="1"/>
          </a:p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Each skill signal carries its source name, publish date and retrieval date. Scores are prototype estimates — never hiring probabilities.</a:t>
            </a:r>
            <a:endParaRPr lang="en-US" sz="1600" noProof="1"/>
          </a:p>
        </p:txBody>
      </p:sp>
      <p:sp>
        <p:nvSpPr>
          <p:cNvPr id="12" name="Rounded Rectangle 11"/>
          <p:cNvSpPr/>
          <p:nvPr/>
        </p:nvSpPr>
        <p:spPr>
          <a:xfrm>
            <a:off x="6126480" y="1783080"/>
            <a:ext cx="5240020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</p:spPr>
        <p:txBody>
          <a:bodyPr/>
          <a:p/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240020" cy="825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 spc="50" kern="0">
                <a:solidFill>
                  <a:srgbClr val="4B5A2A"/>
                </a:solidFill>
                <a:latin typeface="Arial"/>
                <a:ea typeface="Arial"/>
              </a:rPr>
              <a:t>BUSINESS OPERATIONS ASSOCIATE</a:t>
            </a:r>
            <a:endParaRPr lang="en-US" sz="1300" noProof="1"/>
          </a:p>
        </p:txBody>
      </p:sp>
      <p:sp>
        <p:nvSpPr>
          <p:cNvPr id="15" name="TextBox 14"/>
          <p:cNvSpPr txBox="1"/>
          <p:nvPr/>
        </p:nvSpPr>
        <p:spPr>
          <a:xfrm>
            <a:off x="6446520" y="23952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950" noProof="1" i="1">
                <a:solidFill>
                  <a:srgbClr val="7A8663"/>
                </a:solidFill>
                <a:latin typeface="Arial"/>
                <a:ea typeface="Arial"/>
              </a:rPr>
              <a:t>Actual demo output · synthetic profile</a:t>
            </a:r>
            <a:endParaRPr lang="en-US" sz="950" noProof="1"/>
          </a:p>
        </p:txBody>
      </p:sp>
      <p:sp>
        <p:nvSpPr>
          <p:cNvPr id="16" name="TextBox 15"/>
          <p:cNvSpPr txBox="1"/>
          <p:nvPr/>
        </p:nvSpPr>
        <p:spPr>
          <a:xfrm>
            <a:off x="9144000" y="19659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4000" noProof="1" b="1" i="0">
                <a:solidFill>
                  <a:srgbClr val="8A9A5B"/>
                </a:solidFill>
                <a:latin typeface="Arial"/>
                <a:ea typeface="Arial"/>
              </a:rPr>
              <a:t>64.0</a:t>
            </a:r>
            <a:endParaRPr lang="en-US" sz="4000" noProof="1"/>
          </a:p>
        </p:txBody>
      </p:sp>
      <p:sp>
        <p:nvSpPr>
          <p:cNvPr id="17" name="TextBox 16"/>
          <p:cNvSpPr txBox="1"/>
          <p:nvPr/>
        </p:nvSpPr>
        <p:spPr>
          <a:xfrm>
            <a:off x="9144000" y="263398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7A8663"/>
                </a:solidFill>
                <a:latin typeface="Arial"/>
                <a:ea typeface="Arial"/>
              </a:rPr>
              <a:t>MATCH SCORE / 100</a:t>
            </a:r>
            <a:endParaRPr lang="en-US" sz="1000" noProof="1"/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00" noProof="1" b="1" i="0">
                <a:solidFill>
                  <a:srgbClr val="3F4A26"/>
                </a:solidFill>
                <a:latin typeface="Arial"/>
                <a:ea typeface="Arial"/>
              </a:rPr>
              <a:t>Skill coverage</a:t>
            </a:r>
            <a:endParaRPr lang="en-US" sz="1100" noProof="1"/>
          </a:p>
        </p:txBody>
      </p:sp>
      <p:sp>
        <p:nvSpPr>
          <p:cNvPr id="19" name="TextBox 18"/>
          <p:cNvSpPr txBox="1"/>
          <p:nvPr/>
        </p:nvSpPr>
        <p:spPr>
          <a:xfrm>
            <a:off x="10332720" y="30632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 b="1" i="0">
                <a:solidFill>
                  <a:srgbClr val="62704F"/>
                </a:solidFill>
                <a:latin typeface="Arial"/>
                <a:ea typeface="Arial"/>
              </a:rPr>
              <a:t>84%</a:t>
            </a:r>
            <a:endParaRPr lang="en-US" sz="1100" noProof="1"/>
          </a:p>
        </p:txBody>
      </p:sp>
      <p:sp>
        <p:nvSpPr>
          <p:cNvPr id="20" name="Rounded Rectangle 19"/>
          <p:cNvSpPr/>
          <p:nvPr/>
        </p:nvSpPr>
        <p:spPr>
          <a:xfrm>
            <a:off x="6446520" y="3365500"/>
            <a:ext cx="4617720" cy="128270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1" name="Rounded Rectangle 20"/>
          <p:cNvSpPr/>
          <p:nvPr/>
        </p:nvSpPr>
        <p:spPr>
          <a:xfrm>
            <a:off x="6446520" y="3365500"/>
            <a:ext cx="3463290" cy="128270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2" name="TextBox 21"/>
          <p:cNvSpPr txBox="1"/>
          <p:nvPr/>
        </p:nvSpPr>
        <p:spPr>
          <a:xfrm>
            <a:off x="6446520" y="36296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00" noProof="1" b="1" i="0">
                <a:solidFill>
                  <a:srgbClr val="3F4A26"/>
                </a:solidFill>
                <a:latin typeface="Arial"/>
                <a:ea typeface="Arial"/>
              </a:rPr>
              <a:t>Role focus</a:t>
            </a:r>
            <a:endParaRPr lang="en-US" sz="1100" noProof="1"/>
          </a:p>
        </p:txBody>
      </p:sp>
      <p:sp>
        <p:nvSpPr>
          <p:cNvPr id="23" name="TextBox 22"/>
          <p:cNvSpPr txBox="1"/>
          <p:nvPr/>
        </p:nvSpPr>
        <p:spPr>
          <a:xfrm>
            <a:off x="10332720" y="36296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 b="1" i="0">
                <a:solidFill>
                  <a:srgbClr val="62704F"/>
                </a:solidFill>
                <a:latin typeface="Arial"/>
                <a:ea typeface="Arial"/>
              </a:rPr>
              <a:t>50%</a:t>
            </a:r>
            <a:endParaRPr lang="en-US" sz="1100" noProof="1"/>
          </a:p>
        </p:txBody>
      </p:sp>
      <p:sp>
        <p:nvSpPr>
          <p:cNvPr id="24" name="Rounded Rectangle 23"/>
          <p:cNvSpPr/>
          <p:nvPr/>
        </p:nvSpPr>
        <p:spPr>
          <a:xfrm>
            <a:off x="6446520" y="3931920"/>
            <a:ext cx="4617720" cy="128270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5" name="Rounded Rectangle 24"/>
          <p:cNvSpPr/>
          <p:nvPr/>
        </p:nvSpPr>
        <p:spPr>
          <a:xfrm>
            <a:off x="6446520" y="3931920"/>
            <a:ext cx="2308860" cy="128270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6" name="TextBox 25"/>
          <p:cNvSpPr txBox="1"/>
          <p:nvPr/>
        </p:nvSpPr>
        <p:spPr>
          <a:xfrm>
            <a:off x="6446520" y="419735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00" noProof="1" b="1" i="0">
                <a:solidFill>
                  <a:srgbClr val="3F4A26"/>
                </a:solidFill>
                <a:latin typeface="Arial"/>
                <a:ea typeface="Arial"/>
              </a:rPr>
              <a:t>Transferability</a:t>
            </a:r>
            <a:endParaRPr lang="en-US" sz="1100" noProof="1"/>
          </a:p>
        </p:txBody>
      </p:sp>
      <p:sp>
        <p:nvSpPr>
          <p:cNvPr id="27" name="TextBox 26"/>
          <p:cNvSpPr txBox="1"/>
          <p:nvPr/>
        </p:nvSpPr>
        <p:spPr>
          <a:xfrm>
            <a:off x="10332720" y="419735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 b="1" i="0">
                <a:solidFill>
                  <a:srgbClr val="62704F"/>
                </a:solidFill>
                <a:latin typeface="Arial"/>
                <a:ea typeface="Arial"/>
              </a:rPr>
              <a:t>50%</a:t>
            </a:r>
            <a:endParaRPr lang="en-US" sz="1100" noProof="1"/>
          </a:p>
        </p:txBody>
      </p:sp>
      <p:sp>
        <p:nvSpPr>
          <p:cNvPr id="28" name="Rounded Rectangle 27"/>
          <p:cNvSpPr/>
          <p:nvPr/>
        </p:nvSpPr>
        <p:spPr>
          <a:xfrm>
            <a:off x="6446520" y="4498340"/>
            <a:ext cx="4617720" cy="128270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9" name="Rounded Rectangle 28"/>
          <p:cNvSpPr/>
          <p:nvPr/>
        </p:nvSpPr>
        <p:spPr>
          <a:xfrm>
            <a:off x="6446520" y="4498340"/>
            <a:ext cx="2308860" cy="128270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30" name="TextBox 29"/>
          <p:cNvSpPr txBox="1"/>
          <p:nvPr/>
        </p:nvSpPr>
        <p:spPr>
          <a:xfrm>
            <a:off x="6446520" y="476377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00" noProof="1" b="1" i="0">
                <a:solidFill>
                  <a:srgbClr val="3F4A26"/>
                </a:solidFill>
                <a:latin typeface="Arial"/>
                <a:ea typeface="Arial"/>
              </a:rPr>
              <a:t>Demand trend</a:t>
            </a:r>
            <a:endParaRPr lang="en-US" sz="1100" noProof="1"/>
          </a:p>
        </p:txBody>
      </p:sp>
      <p:sp>
        <p:nvSpPr>
          <p:cNvPr id="31" name="TextBox 30"/>
          <p:cNvSpPr txBox="1"/>
          <p:nvPr/>
        </p:nvSpPr>
        <p:spPr>
          <a:xfrm>
            <a:off x="10332720" y="476377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 b="1" i="0">
                <a:solidFill>
                  <a:srgbClr val="62704F"/>
                </a:solidFill>
                <a:latin typeface="Arial"/>
                <a:ea typeface="Arial"/>
              </a:rPr>
              <a:t>70%</a:t>
            </a:r>
            <a:endParaRPr lang="en-US" sz="1100" noProof="1"/>
          </a:p>
        </p:txBody>
      </p:sp>
      <p:sp>
        <p:nvSpPr>
          <p:cNvPr id="32" name="Rounded Rectangle 31"/>
          <p:cNvSpPr/>
          <p:nvPr/>
        </p:nvSpPr>
        <p:spPr>
          <a:xfrm>
            <a:off x="6446520" y="5066030"/>
            <a:ext cx="4617720" cy="128270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33" name="Rounded Rectangle 32"/>
          <p:cNvSpPr/>
          <p:nvPr/>
        </p:nvSpPr>
        <p:spPr>
          <a:xfrm>
            <a:off x="6446520" y="5066030"/>
            <a:ext cx="3232150" cy="128270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34" name="TextBox 33"/>
          <p:cNvSpPr txBox="1"/>
          <p:nvPr/>
        </p:nvSpPr>
        <p:spPr>
          <a:xfrm>
            <a:off x="6446520" y="53314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>
                <a:solidFill>
                  <a:srgbClr val="3F4A26"/>
                </a:solidFill>
                <a:latin typeface="Arial"/>
                <a:ea typeface="Arial"/>
              </a:rPr>
              <a:t>Gap cost · lower is better</a:t>
            </a:r>
            <a:endParaRPr lang="en-US" sz="1000" noProof="1"/>
          </a:p>
        </p:txBody>
      </p:sp>
      <p:sp>
        <p:nvSpPr>
          <p:cNvPr id="35" name="TextBox 34"/>
          <p:cNvSpPr txBox="1"/>
          <p:nvPr/>
        </p:nvSpPr>
        <p:spPr>
          <a:xfrm>
            <a:off x="10332720" y="53314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 b="1" i="0">
                <a:solidFill>
                  <a:srgbClr val="62704F"/>
                </a:solidFill>
                <a:latin typeface="Arial"/>
                <a:ea typeface="Arial"/>
              </a:rPr>
              <a:t>45%</a:t>
            </a:r>
            <a:endParaRPr lang="en-US" sz="1100" noProof="1"/>
          </a:p>
        </p:txBody>
      </p:sp>
      <p:sp>
        <p:nvSpPr>
          <p:cNvPr id="36" name="Rounded Rectangle 35"/>
          <p:cNvSpPr/>
          <p:nvPr/>
        </p:nvSpPr>
        <p:spPr>
          <a:xfrm>
            <a:off x="6446520" y="5632450"/>
            <a:ext cx="4617720" cy="128270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37" name="Rounded Rectangle 36"/>
          <p:cNvSpPr/>
          <p:nvPr/>
        </p:nvSpPr>
        <p:spPr>
          <a:xfrm>
            <a:off x="6446520" y="5632450"/>
            <a:ext cx="4293870" cy="128270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38" name="Rectangle 37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39" name="TextBox 38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40" name="TextBox 39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15 / 20</a:t>
            </a:r>
            <a:endParaRPr lang="en-US" sz="1000" noProof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7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sq"/>
          <p:cNvSpPr/>
          <p:nvPr/>
        </p:nvSpPr>
        <p:spPr>
          <a:xfrm>
            <a:off x="609600" y="381000"/>
            <a:ext cx="101600" cy="101600"/>
          </a:xfrm>
          <a:prstGeom prst="rect">
            <a:avLst/>
          </a:prstGeom>
          <a:solidFill>
            <a:srgbClr val="8A9A6E"/>
          </a:solidFill>
          <a:ln>
            <a:noFill/>
          </a:ln>
        </p:spPr>
        <p:txBody>
          <a:bodyPr/>
          <a:p/>
        </p:txBody>
      </p:sp>
      <p:sp>
        <p:nvSpPr>
          <p:cNvPr id="3" name="kicker"/>
          <p:cNvSpPr txBox="1"/>
          <p:nvPr/>
        </p:nvSpPr>
        <p:spPr>
          <a:xfrm>
            <a:off x="787400" y="330200"/>
            <a:ext cx="812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000" noProof="1" b="1" spc="200" kern="0">
                <a:solidFill>
                  <a:srgbClr val="7C8B57"/>
                </a:solidFill>
                <a:latin typeface="MiSans"/>
                <a:ea typeface="MiSans"/>
              </a:rPr>
              <a:t>05 · HOW MATCHING WORKS — EVIDENCE TRAIL</a:t>
            </a:r>
            <a:endParaRPr lang="en-US" sz="10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584200"/>
            <a:ext cx="10922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2700" noProof="1" b="1">
                <a:solidFill>
                  <a:srgbClr val="3E4A24"/>
                </a:solidFill>
                <a:latin typeface="MiSans"/>
                <a:ea typeface="MiSans"/>
              </a:rPr>
              <a:t>Relevant Matches, with a Clear Evidence Trail</a:t>
            </a:r>
            <a:endParaRPr lang="en-US" sz="2700" noProof="1"/>
          </a:p>
        </p:txBody>
      </p:sp>
      <p:sp>
        <p:nvSpPr>
          <p:cNvPr id="5" name="f1"/>
          <p:cNvSpPr/>
          <p:nvPr/>
        </p:nvSpPr>
        <p:spPr>
          <a:xfrm>
            <a:off x="609600" y="1320800"/>
            <a:ext cx="25400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6" name="f1-t"/>
          <p:cNvSpPr txBox="1"/>
          <p:nvPr/>
        </p:nvSpPr>
        <p:spPr>
          <a:xfrm>
            <a:off x="762000" y="14224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000" noProof="1" b="1">
                <a:solidFill>
                  <a:srgbClr val="3E4A24"/>
                </a:solidFill>
                <a:latin typeface="MiSans"/>
                <a:ea typeface="MiSans"/>
              </a:rPr>
              <a:t>Inputs that drive matching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Confirmed skills (CV parse or manual ticks) + target field</a:t>
            </a:r>
            <a:endParaRPr lang="en-US" sz="1600" noProof="1"/>
          </a:p>
        </p:txBody>
      </p:sp>
      <p:sp>
        <p:nvSpPr>
          <p:cNvPr id="7" name="a1"/>
          <p:cNvSpPr/>
          <p:nvPr/>
        </p:nvSpPr>
        <p:spPr>
          <a:xfrm>
            <a:off x="3251200" y="1701800"/>
            <a:ext cx="304800" cy="3048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7C8B57"/>
          </a:solidFill>
          <a:ln>
            <a:noFill/>
          </a:ln>
        </p:spPr>
        <p:txBody>
          <a:bodyPr/>
          <a:p/>
        </p:txBody>
      </p:sp>
      <p:sp>
        <p:nvSpPr>
          <p:cNvPr id="8" name="f2"/>
          <p:cNvSpPr/>
          <p:nvPr/>
        </p:nvSpPr>
        <p:spPr>
          <a:xfrm>
            <a:off x="3657600" y="1320800"/>
            <a:ext cx="3048000" cy="1066800"/>
          </a:xfrm>
          <a:prstGeom prst="roundRect">
            <a:avLst>
              <a:gd name="adj" fmla="val 8000"/>
            </a:avLst>
          </a:prstGeom>
          <a:solidFill>
            <a:srgbClr val="3E4A24"/>
          </a:solidFill>
          <a:ln>
            <a:noFill/>
          </a:ln>
        </p:spPr>
        <p:txBody>
          <a:bodyPr/>
          <a:p/>
        </p:txBody>
      </p:sp>
      <p:sp>
        <p:nvSpPr>
          <p:cNvPr id="9" name="f2-t"/>
          <p:cNvSpPr txBox="1"/>
          <p:nvPr/>
        </p:nvSpPr>
        <p:spPr>
          <a:xfrm>
            <a:off x="3810000" y="1422400"/>
            <a:ext cx="2743200" cy="863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000" noProof="1" b="1">
                <a:solidFill>
                  <a:srgbClr val="FFFFFF"/>
                </a:solidFill>
                <a:latin typeface="MiSans"/>
                <a:ea typeface="MiSans"/>
              </a:rPr>
              <a:t>Future-role match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EDF1DF"/>
                </a:solidFill>
                <a:latin typeface="MiSans"/>
                <a:ea typeface="MiSans"/>
              </a:rPr>
              <a:t>Ranked roles, each scored on five auditable inputs the UI shows: coverage · role focus · transferability · demand trend · gap cost</a:t>
            </a:r>
            <a:endParaRPr lang="en-US" sz="1600" noProof="1"/>
          </a:p>
        </p:txBody>
      </p:sp>
      <p:sp>
        <p:nvSpPr>
          <p:cNvPr id="10" name="a2"/>
          <p:cNvSpPr/>
          <p:nvPr/>
        </p:nvSpPr>
        <p:spPr>
          <a:xfrm>
            <a:off x="6807200" y="1701800"/>
            <a:ext cx="304800" cy="3048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7C8B57"/>
          </a:solidFill>
          <a:ln>
            <a:noFill/>
          </a:ln>
        </p:spPr>
        <p:txBody>
          <a:bodyPr/>
          <a:p/>
        </p:txBody>
      </p:sp>
      <p:sp>
        <p:nvSpPr>
          <p:cNvPr id="11" name="f3"/>
          <p:cNvSpPr/>
          <p:nvPr/>
        </p:nvSpPr>
        <p:spPr>
          <a:xfrm>
            <a:off x="7213600" y="1320800"/>
            <a:ext cx="25400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2" name="f3-t"/>
          <p:cNvSpPr txBox="1"/>
          <p:nvPr/>
        </p:nvSpPr>
        <p:spPr>
          <a:xfrm>
            <a:off x="7366000" y="1422400"/>
            <a:ext cx="2235200" cy="863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000" noProof="1" b="1">
                <a:solidFill>
                  <a:srgbClr val="3E4A24"/>
                </a:solidFill>
                <a:latin typeface="MiSans"/>
                <a:ea typeface="MiSans"/>
              </a:rPr>
              <a:t>Inputs that drive duration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Weekly study hours → pathway length in weeks (e.g. "about 30 weeks at 6 h/week")</a:t>
            </a:r>
            <a:endParaRPr lang="en-US" sz="1600" noProof="1"/>
          </a:p>
        </p:txBody>
      </p:sp>
      <p:sp>
        <p:nvSpPr>
          <p:cNvPr id="13" name="f4-strip"/>
          <p:cNvSpPr/>
          <p:nvPr/>
        </p:nvSpPr>
        <p:spPr>
          <a:xfrm>
            <a:off x="9956800" y="1320800"/>
            <a:ext cx="1625600" cy="1066800"/>
          </a:xfrm>
          <a:prstGeom prst="roundRect">
            <a:avLst>
              <a:gd name="adj" fmla="val 8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14" name="f4-t"/>
          <p:cNvSpPr txBox="1"/>
          <p:nvPr/>
        </p:nvSpPr>
        <p:spPr>
          <a:xfrm>
            <a:off x="10083800" y="139700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00" noProof="1" b="1">
                <a:solidFill>
                  <a:srgbClr val="3E4A24"/>
                </a:solidFill>
                <a:latin typeface="MiSans"/>
                <a:ea typeface="MiSans"/>
              </a:rPr>
              <a:t>Recorded only</a:t>
            </a:r>
            <a:endParaRPr lang="en-US" sz="800" noProof="1"/>
          </a:p>
          <a:p>
            <a:pPr>
              <a:lnSpc>
                <a:spcPct val="135000"/>
              </a:lnSpc>
            </a:pPr>
            <a:r>
              <a:rPr lang="en-US" sz="800" noProof="1">
                <a:solidFill>
                  <a:srgbClr val="6B7256"/>
                </a:solidFill>
                <a:latin typeface="MiSans"/>
                <a:ea typeface="MiSans"/>
              </a:rPr>
              <a:t>Years of experience, move urgency, training budget</a:t>
            </a:r>
            <a:endParaRPr lang="en-US" sz="800" noProof="1"/>
          </a:p>
        </p:txBody>
      </p:sp>
      <p:sp>
        <p:nvSpPr>
          <p:cNvPr id="15" name="ev-card"/>
          <p:cNvSpPr/>
          <p:nvPr/>
        </p:nvSpPr>
        <p:spPr>
          <a:xfrm>
            <a:off x="609600" y="2590800"/>
            <a:ext cx="109728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C9"/>
            </a:solidFill>
          </a:ln>
        </p:spPr>
        <p:txBody>
          <a:bodyPr/>
          <a:p/>
        </p:txBody>
      </p:sp>
      <p:sp>
        <p:nvSpPr>
          <p:cNvPr id="16" name="ev-title"/>
          <p:cNvSpPr txBox="1"/>
          <p:nvPr/>
        </p:nvSpPr>
        <p:spPr>
          <a:xfrm>
            <a:off x="812800" y="2717800"/>
            <a:ext cx="10541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Every match carries its evidence — judges can trace each score</a:t>
            </a:r>
            <a:endParaRPr lang="en-US" sz="1300" noProof="1"/>
          </a:p>
        </p:txBody>
      </p:sp>
      <p:sp>
        <p:nvSpPr>
          <p:cNvPr id="17" name="ev-body"/>
          <p:cNvSpPr txBox="1"/>
          <p:nvPr/>
        </p:nvSpPr>
        <p:spPr>
          <a:xfrm>
            <a:off x="812800" y="2971800"/>
            <a:ext cx="10541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850" noProof="1">
                <a:solidFill>
                  <a:srgbClr val="6B7256"/>
                </a:solidFill>
                <a:latin typeface="MiSans"/>
                <a:ea typeface="MiSans"/>
              </a:rPr>
              <a:t>Each role card names what was matched (skills already held vs. gaps to close, labelled important or not), the demand-trend source behind the score (dated 2025–2026 snapshots: DOSM online job offerings, a JobStreet–Randstad signal reported by The Edge, WEF Future of Jobs 2025, PIKOM 2025), and a scenario toggle that re-ranks under moderate vs. fast AI disruption.</a:t>
            </a:r>
            <a:endParaRPr lang="en-US" sz="850" noProof="1"/>
          </a:p>
        </p:txBody>
      </p:sp>
      <p:sp>
        <p:nvSpPr>
          <p:cNvPr id="18" name="lim-card"/>
          <p:cNvSpPr/>
          <p:nvPr/>
        </p:nvSpPr>
        <p:spPr>
          <a:xfrm>
            <a:off x="609600" y="3810000"/>
            <a:ext cx="10972800" cy="1651000"/>
          </a:xfrm>
          <a:prstGeom prst="roundRect">
            <a:avLst>
              <a:gd name="adj" fmla="val 6000"/>
            </a:avLst>
          </a:prstGeom>
          <a:solidFill>
            <a:srgbClr val="EEF3E4"/>
          </a:solidFill>
          <a:ln>
            <a:noFill/>
          </a:ln>
        </p:spPr>
        <p:txBody>
          <a:bodyPr/>
          <a:p/>
        </p:txBody>
      </p:sp>
      <p:sp>
        <p:nvSpPr>
          <p:cNvPr id="19" name="lim-title"/>
          <p:cNvSpPr txBox="1"/>
          <p:nvPr/>
        </p:nvSpPr>
        <p:spPr>
          <a:xfrm>
            <a:off x="812800" y="3937000"/>
            <a:ext cx="10541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3E4A24"/>
                </a:solidFill>
                <a:latin typeface="MiSans"/>
                <a:ea typeface="MiSans"/>
              </a:rPr>
              <a:t>Stated honestly, including in the app itself</a:t>
            </a:r>
            <a:endParaRPr lang="en-US" sz="1300" noProof="1"/>
          </a:p>
        </p:txBody>
      </p:sp>
      <p:sp>
        <p:nvSpPr>
          <p:cNvPr id="20" name="lim-body"/>
          <p:cNvSpPr txBox="1"/>
          <p:nvPr/>
        </p:nvSpPr>
        <p:spPr>
          <a:xfrm>
            <a:off x="812800" y="4191000"/>
            <a:ext cx="105410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The app states under the intake form: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"Experience, urgency and budget are recorded only, not used in scores or course filtering."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Scores are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prototype estimates — weighted rules, not hiring probabilities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; the app says so on every results page.</a:t>
            </a:r>
            <a:endParaRPr lang="en-US" sz="950" noProof="1"/>
          </a:p>
          <a:p>
            <a:pPr>
              <a:lnSpc>
                <a:spcPct val="145000"/>
              </a:lnSpc>
              <a:spcBef>
                <a:spcPts val="10"/>
              </a:spcBef>
              <a:buChar char="•"/>
            </a:pP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Three synthetic CVs can demonstrate the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matching logic and career-stage differences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. They </a:t>
            </a:r>
            <a:r>
              <a:rPr lang="en-US" sz="950" noProof="1" b="1">
                <a:solidFill>
                  <a:srgbClr val="454B36"/>
                </a:solidFill>
                <a:latin typeface="MiSans"/>
                <a:ea typeface="MiSans"/>
              </a:rPr>
              <a:t>cannot prove statistical recommendation accuracy</a:t>
            </a:r>
            <a:r>
              <a:rPr lang="en-US" sz="950" noProof="1">
                <a:solidFill>
                  <a:srgbClr val="454B36"/>
                </a:solidFill>
                <a:latin typeface="MiSans"/>
                <a:ea typeface="MiSans"/>
              </a:rPr>
              <a:t> — that needs a larger sample and an independent evaluation.</a:t>
            </a:r>
            <a:endParaRPr lang="en-US" sz="950" noProof="1"/>
          </a:p>
        </p:txBody>
      </p:sp>
      <p:sp>
        <p:nvSpPr>
          <p:cNvPr id="21" name="close-strip"/>
          <p:cNvSpPr/>
          <p:nvPr/>
        </p:nvSpPr>
        <p:spPr>
          <a:xfrm>
            <a:off x="609600" y="5638800"/>
            <a:ext cx="10972800" cy="508000"/>
          </a:xfrm>
          <a:prstGeom prst="roundRect">
            <a:avLst>
              <a:gd name="adj" fmla="val 16000"/>
            </a:avLst>
          </a:prstGeom>
          <a:solidFill>
            <a:srgbClr val="3E4A24"/>
          </a:solidFill>
          <a:ln>
            <a:noFill/>
          </a:ln>
        </p:spPr>
        <p:txBody>
          <a:bodyPr/>
          <a:p/>
        </p:txBody>
      </p:sp>
      <p:sp>
        <p:nvSpPr>
          <p:cNvPr id="22" name="close-text"/>
          <p:cNvSpPr txBox="1"/>
          <p:nvPr/>
        </p:nvSpPr>
        <p:spPr>
          <a:xfrm>
            <a:off x="812800" y="5638800"/>
            <a:ext cx="10566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F3F5E9"/>
                </a:solidFill>
                <a:latin typeface="MiSans"/>
                <a:ea typeface="MiSans"/>
              </a:rPr>
              <a:t>Three fictional CVs, one live site, zero invented numbers — every role, score and gap quoted in this insert is visible in the demo.</a:t>
            </a:r>
            <a:endParaRPr lang="en-US" sz="1000" noProof="1"/>
          </a:p>
        </p:txBody>
      </p:sp>
      <p:sp>
        <p:nvSpPr>
          <p:cNvPr id="23" name="foot-l"/>
          <p:cNvSpPr txBox="1"/>
          <p:nvPr/>
        </p:nvSpPr>
        <p:spPr>
          <a:xfrm>
            <a:off x="609600" y="6604000"/>
            <a:ext cx="78740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/>
          <a:lstStyle/>
          <a:p>
            <a:pPr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SkillRadar MY · Lumina Nusantara · SDC 2026</a:t>
            </a:r>
            <a:endParaRPr lang="en-US" sz="750" noProof="1"/>
          </a:p>
        </p:txBody>
      </p:sp>
      <p:sp>
        <p:nvSpPr>
          <p:cNvPr id="24" name="foot-r"/>
          <p:cNvSpPr txBox="1"/>
          <p:nvPr/>
        </p:nvSpPr>
        <p:spPr>
          <a:xfrm>
            <a:off x="10541000" y="6604000"/>
            <a:ext cx="1041400" cy="152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t"/>
          <a:lstStyle/>
          <a:p>
            <a:pPr algn="r">
              <a:lnSpc>
                <a:spcPct val="135000"/>
              </a:lnSpc>
            </a:pPr>
            <a:r>
              <a:rPr lang="en-US" sz="750" noProof="1">
                <a:solidFill>
                  <a:srgbClr val="6B7256"/>
                </a:solidFill>
                <a:latin typeface="MiSans"/>
                <a:ea typeface="MiSans"/>
              </a:rPr>
              <a:t>16 / 20</a:t>
            </a:r>
            <a:endParaRPr lang="en-US" sz="750" noProof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06 · TECHNICAL DESIGN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Signals in, pathways out — four honest layers</a:t>
            </a:r>
            <a:endParaRPr lang="en-US" sz="2700" noProof="1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43540" cy="713740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82550" cy="7137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8" name="TextBox 7"/>
          <p:cNvSpPr txBox="1"/>
          <p:nvPr/>
        </p:nvSpPr>
        <p:spPr>
          <a:xfrm>
            <a:off x="1188720" y="184658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250" noProof="1" b="1" i="0" spc="50" kern="0">
                <a:solidFill>
                  <a:srgbClr val="4B5A2A"/>
                </a:solidFill>
                <a:latin typeface="Arial"/>
                <a:ea typeface="Arial"/>
              </a:rPr>
              <a:t>STREAMLIT WEB APP</a:t>
            </a:r>
            <a:endParaRPr lang="en-US" sz="1250" noProof="1"/>
          </a:p>
        </p:txBody>
      </p:sp>
      <p:sp>
        <p:nvSpPr>
          <p:cNvPr id="9" name="TextBox 8"/>
          <p:cNvSpPr txBox="1"/>
          <p:nvPr/>
        </p:nvSpPr>
        <p:spPr>
          <a:xfrm>
            <a:off x="4343400" y="1828800"/>
            <a:ext cx="6812280" cy="548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Trilingual EN / BM / 中文 UI · worker, graduate, HR and career-centre flows · low-bandwidth friendly</a:t>
            </a:r>
            <a:endParaRPr lang="en-US" sz="1050" noProof="1"/>
          </a:p>
        </p:txBody>
      </p:sp>
      <p:sp>
        <p:nvSpPr>
          <p:cNvPr id="10" name="Rounded Rectangle 9"/>
          <p:cNvSpPr/>
          <p:nvPr/>
        </p:nvSpPr>
        <p:spPr>
          <a:xfrm>
            <a:off x="822960" y="2578100"/>
            <a:ext cx="10543540" cy="713740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1" name="Rectangle 10"/>
          <p:cNvSpPr/>
          <p:nvPr/>
        </p:nvSpPr>
        <p:spPr>
          <a:xfrm>
            <a:off x="822960" y="2578100"/>
            <a:ext cx="82550" cy="713740"/>
          </a:xfrm>
          <a:prstGeom prst="rect">
            <a:avLst/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12" name="TextBox 11"/>
          <p:cNvSpPr txBox="1"/>
          <p:nvPr/>
        </p:nvSpPr>
        <p:spPr>
          <a:xfrm>
            <a:off x="1188720" y="268859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250" noProof="1" b="1" i="0" spc="50" kern="0">
                <a:solidFill>
                  <a:srgbClr val="4B5A2A"/>
                </a:solidFill>
                <a:latin typeface="Arial"/>
                <a:ea typeface="Arial"/>
              </a:rPr>
              <a:t>DETERMINISTIC ENGINE</a:t>
            </a:r>
            <a:endParaRPr lang="en-US" sz="1250" noProof="1"/>
          </a:p>
        </p:txBody>
      </p:sp>
      <p:sp>
        <p:nvSpPr>
          <p:cNvPr id="13" name="TextBox 12"/>
          <p:cNvSpPr txBox="1"/>
          <p:nvPr/>
        </p:nvSpPr>
        <p:spPr>
          <a:xfrm>
            <a:off x="4343400" y="2669540"/>
            <a:ext cx="6812280" cy="548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Pure-Python scoring, pathway &amp; SDG modules — no external AI service on the request path · 54 automated tests</a:t>
            </a:r>
            <a:endParaRPr lang="en-US" sz="1050" noProof="1"/>
          </a:p>
        </p:txBody>
      </p:sp>
      <p:sp>
        <p:nvSpPr>
          <p:cNvPr id="14" name="Rounded Rectangle 13"/>
          <p:cNvSpPr/>
          <p:nvPr/>
        </p:nvSpPr>
        <p:spPr>
          <a:xfrm>
            <a:off x="822960" y="3420110"/>
            <a:ext cx="10543540" cy="713740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5" name="Rectangle 14"/>
          <p:cNvSpPr/>
          <p:nvPr/>
        </p:nvSpPr>
        <p:spPr>
          <a:xfrm>
            <a:off x="822960" y="3420110"/>
            <a:ext cx="82550" cy="71374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6" name="TextBox 15"/>
          <p:cNvSpPr txBox="1"/>
          <p:nvPr/>
        </p:nvSpPr>
        <p:spPr>
          <a:xfrm>
            <a:off x="1188720" y="352933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250" noProof="1" b="1" i="0" spc="50" kern="0">
                <a:solidFill>
                  <a:srgbClr val="4B5A2A"/>
                </a:solidFill>
                <a:latin typeface="Arial"/>
                <a:ea typeface="Arial"/>
              </a:rPr>
              <a:t>CURATED CATALOGUES</a:t>
            </a:r>
            <a:endParaRPr lang="en-US" sz="1250" noProof="1"/>
          </a:p>
        </p:txBody>
      </p:sp>
      <p:sp>
        <p:nvSpPr>
          <p:cNvPr id="17" name="TextBox 16"/>
          <p:cNvSpPr txBox="1"/>
          <p:nvPr/>
        </p:nvSpPr>
        <p:spPr>
          <a:xfrm>
            <a:off x="4343400" y="3511550"/>
            <a:ext cx="6812280" cy="548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Role &amp; skill catalogue · 60 linked course records · skill-to-SDG crosswalk, all versioned in JSON</a:t>
            </a:r>
            <a:endParaRPr lang="en-US" sz="1050" noProof="1"/>
          </a:p>
        </p:txBody>
      </p:sp>
      <p:sp>
        <p:nvSpPr>
          <p:cNvPr id="18" name="Rounded Rectangle 17"/>
          <p:cNvSpPr/>
          <p:nvPr/>
        </p:nvSpPr>
        <p:spPr>
          <a:xfrm>
            <a:off x="822960" y="4260850"/>
            <a:ext cx="10543540" cy="713740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9" name="Rectangle 18"/>
          <p:cNvSpPr/>
          <p:nvPr/>
        </p:nvSpPr>
        <p:spPr>
          <a:xfrm>
            <a:off x="822960" y="4260850"/>
            <a:ext cx="82550" cy="713740"/>
          </a:xfrm>
          <a:prstGeom prst="rect">
            <a:avLst/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20" name="TextBox 19"/>
          <p:cNvSpPr txBox="1"/>
          <p:nvPr/>
        </p:nvSpPr>
        <p:spPr>
          <a:xfrm>
            <a:off x="1188720" y="437134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250" noProof="1" b="1" i="0" spc="50" kern="0">
                <a:solidFill>
                  <a:srgbClr val="4B5A2A"/>
                </a:solidFill>
                <a:latin typeface="Arial"/>
                <a:ea typeface="Arial"/>
              </a:rPr>
              <a:t>TREND SIGNAL SNAPSHOTS</a:t>
            </a:r>
            <a:endParaRPr lang="en-US" sz="1250" noProof="1"/>
          </a:p>
        </p:txBody>
      </p:sp>
      <p:sp>
        <p:nvSpPr>
          <p:cNvPr id="21" name="TextBox 20"/>
          <p:cNvSpPr txBox="1"/>
          <p:nvPr/>
        </p:nvSpPr>
        <p:spPr>
          <a:xfrm>
            <a:off x="4343400" y="4352290"/>
            <a:ext cx="6812280" cy="548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DOSM online job offerings 2026 Q1/Q2 · JobStreet–Randstad 2025 skill signals · WEF Future of Jobs 2025 · validated manual import, source + date shown</a:t>
            </a:r>
            <a:endParaRPr lang="en-US" sz="1050" noProof="1"/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5B7FA6"/>
                </a:solidFill>
                <a:latin typeface="Arial"/>
                <a:ea typeface="Arial"/>
              </a:rPr>
              <a:t>IN THE DEMO TODAY</a:t>
            </a:r>
            <a:endParaRPr lang="en-US" sz="1000" noProof="1"/>
          </a:p>
        </p:txBody>
      </p:sp>
      <p:sp>
        <p:nvSpPr>
          <p:cNvPr id="23" name="TextBox 22"/>
          <p:cNvSpPr txBox="1"/>
          <p:nvPr/>
        </p:nvSpPr>
        <p:spPr>
          <a:xfrm>
            <a:off x="6172200" y="512064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b="1" i="0" spc="100" kern="0">
                <a:solidFill>
                  <a:srgbClr val="7A8663"/>
                </a:solidFill>
                <a:latin typeface="Arial"/>
                <a:ea typeface="Arial"/>
              </a:rPr>
              <a:t>ON THE ROADMAP</a:t>
            </a:r>
            <a:endParaRPr lang="en-US" sz="1000" noProof="1"/>
          </a:p>
        </p:txBody>
      </p:sp>
      <p:sp>
        <p:nvSpPr>
          <p:cNvPr id="24" name="TextBox 23"/>
          <p:cNvSpPr txBox="1"/>
          <p:nvPr/>
        </p:nvSpPr>
        <p:spPr>
          <a:xfrm>
            <a:off x="822960" y="5422900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Rule-based explainable scoring · scenario toggle · evidence-source robustness check · HR heatmap · trilingual UI · tested data-import pipeline.</a:t>
            </a:r>
            <a:endParaRPr lang="en-US" sz="1050" noProof="1"/>
          </a:p>
        </p:txBody>
      </p:sp>
      <p:sp>
        <p:nvSpPr>
          <p:cNvPr id="25" name="TextBox 24"/>
          <p:cNvSpPr txBox="1"/>
          <p:nvPr/>
        </p:nvSpPr>
        <p:spPr>
          <a:xfrm>
            <a:off x="6172200" y="5422900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LLM / vector semantic CV parsing · automated trend scraping · verified course durations &amp; fees · fairness audits across age, gender and background.</a:t>
            </a:r>
            <a:endParaRPr lang="en-US" sz="1050" noProof="1"/>
          </a:p>
        </p:txBody>
      </p:sp>
      <p:sp>
        <p:nvSpPr>
          <p:cNvPr id="26" name="Rectangle 25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27" name="TextBox 26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28" name="TextBox 27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17 / 20</a:t>
            </a:r>
            <a:endParaRPr lang="en-US" sz="1000" noProof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DF7"/>
          </a:solidFill>
          <a:ln>
            <a:noFill/>
          </a:ln>
        </p:spPr>
        <p:txBody>
          <a:bodyPr/>
          <a:p/>
        </p:txBody>
      </p:sp>
      <p:sp>
        <p:nvSpPr>
          <p:cNvPr id="3" name="Rectangle 2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4" name="TextBox 3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07 · SDG IMPACT · INTENDED CONTRIBUTION</a:t>
            </a:r>
            <a:endParaRPr lang="en-US" sz="1050" noProof="1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Every pathway points at the Goals — led by SDG 4</a:t>
            </a:r>
            <a:endParaRPr lang="en-US" sz="2700" noProof="1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150" noProof="1" i="0">
                <a:solidFill>
                  <a:srgbClr val="62704F"/>
                </a:solidFill>
                <a:latin typeface="Arial"/>
                <a:ea typeface="Arial"/>
              </a:rPr>
              <a:t>Primary track: SDG 4 Quality Education (Target 4.4), with SDG 8.5 on decent work. Framed as intended contribution — impact indicators are still to be validated.</a:t>
            </a:r>
            <a:endParaRPr lang="en-US" sz="1150" noProof="1"/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2551430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2551430" cy="566420"/>
          </a:xfrm>
          <a:prstGeom prst="roundRect">
            <a:avLst>
              <a:gd name="adj" fmla="val 7000"/>
            </a:avLst>
          </a:prstGeom>
          <a:solidFill>
            <a:srgbClr val="C5192D"/>
          </a:solidFill>
          <a:ln>
            <a:noFill/>
          </a:ln>
        </p:spPr>
        <p:txBody>
          <a:bodyPr/>
          <a:p/>
        </p:txBody>
      </p:sp>
      <p:sp>
        <p:nvSpPr>
          <p:cNvPr id="9" name="Rectangle 8"/>
          <p:cNvSpPr/>
          <p:nvPr/>
        </p:nvSpPr>
        <p:spPr>
          <a:xfrm>
            <a:off x="822960" y="2340610"/>
            <a:ext cx="2551430" cy="283210"/>
          </a:xfrm>
          <a:prstGeom prst="rect">
            <a:avLst/>
          </a:prstGeom>
          <a:solidFill>
            <a:srgbClr val="C5192D"/>
          </a:solidFill>
          <a:ln>
            <a:noFill/>
          </a:ln>
        </p:spPr>
        <p:txBody>
          <a:bodyPr/>
          <a:p/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2551430" cy="566420"/>
          </a:xfrm>
          <a:prstGeom prst="rect">
            <a:avLst/>
          </a:prstGeom>
          <a:solidFill>
            <a:srgbClr val="A5B6CB"/>
          </a:solidFill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150" noProof="1" b="1" i="0">
                <a:solidFill>
                  <a:srgbClr val="FFFFFF"/>
                </a:solidFill>
                <a:latin typeface="Arial"/>
                <a:ea typeface="Arial"/>
              </a:rPr>
              <a:t>SDG 4 · Quality Education</a:t>
            </a:r>
            <a:endParaRPr lang="en-US" sz="1150" noProof="1"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2103120" cy="20116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Reskilling pathways built from free and low-cost resources — education that reaches working adults, not just students.</a:t>
            </a:r>
            <a:endParaRPr lang="en-US" sz="1050" noProof="1"/>
          </a:p>
        </p:txBody>
      </p:sp>
      <p:sp>
        <p:nvSpPr>
          <p:cNvPr id="12" name="Rounded Rectangle 11"/>
          <p:cNvSpPr/>
          <p:nvPr/>
        </p:nvSpPr>
        <p:spPr>
          <a:xfrm>
            <a:off x="3488690" y="2057400"/>
            <a:ext cx="2551430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3" name="Rounded Rectangle 12"/>
          <p:cNvSpPr/>
          <p:nvPr/>
        </p:nvSpPr>
        <p:spPr>
          <a:xfrm>
            <a:off x="3488690" y="2057400"/>
            <a:ext cx="2551430" cy="566420"/>
          </a:xfrm>
          <a:prstGeom prst="roundRect">
            <a:avLst>
              <a:gd name="adj" fmla="val 7000"/>
            </a:avLst>
          </a:prstGeom>
          <a:solidFill>
            <a:srgbClr val="A21942"/>
          </a:solidFill>
          <a:ln>
            <a:noFill/>
          </a:ln>
        </p:spPr>
        <p:txBody>
          <a:bodyPr/>
          <a:p/>
        </p:txBody>
      </p:sp>
      <p:sp>
        <p:nvSpPr>
          <p:cNvPr id="14" name="Rectangle 13"/>
          <p:cNvSpPr/>
          <p:nvPr/>
        </p:nvSpPr>
        <p:spPr>
          <a:xfrm>
            <a:off x="3488690" y="2340610"/>
            <a:ext cx="2551430" cy="283210"/>
          </a:xfrm>
          <a:prstGeom prst="rect">
            <a:avLst/>
          </a:prstGeom>
          <a:solidFill>
            <a:srgbClr val="A21942"/>
          </a:solidFill>
          <a:ln>
            <a:noFill/>
          </a:ln>
        </p:spPr>
        <p:txBody>
          <a:bodyPr/>
          <a:p/>
        </p:txBody>
      </p:sp>
      <p:sp>
        <p:nvSpPr>
          <p:cNvPr id="15" name="TextBox 14"/>
          <p:cNvSpPr txBox="1"/>
          <p:nvPr/>
        </p:nvSpPr>
        <p:spPr>
          <a:xfrm>
            <a:off x="3488690" y="2057400"/>
            <a:ext cx="2551430" cy="566420"/>
          </a:xfrm>
          <a:prstGeom prst="rect">
            <a:avLst/>
          </a:prstGeom>
          <a:solidFill>
            <a:srgbClr val="7992B1"/>
          </a:solidFill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150" noProof="1" b="1" i="0">
                <a:solidFill>
                  <a:srgbClr val="FFFFFF"/>
                </a:solidFill>
                <a:latin typeface="Arial"/>
                <a:ea typeface="Arial"/>
              </a:rPr>
              <a:t>SDG 8 · Decent Work &amp; Growth</a:t>
            </a:r>
            <a:endParaRPr lang="en-US" sz="1150" noProof="1"/>
          </a:p>
        </p:txBody>
      </p:sp>
      <p:sp>
        <p:nvSpPr>
          <p:cNvPr id="16" name="TextBox 15"/>
          <p:cNvSpPr txBox="1"/>
          <p:nvPr/>
        </p:nvSpPr>
        <p:spPr>
          <a:xfrm>
            <a:off x="3717290" y="2788920"/>
            <a:ext cx="2103120" cy="20116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Helping workers transition into AI-era roles with their employability and dignity intact (intended outcome, to be measured).</a:t>
            </a:r>
            <a:endParaRPr lang="en-US" sz="1050" noProof="1"/>
          </a:p>
        </p:txBody>
      </p:sp>
      <p:sp>
        <p:nvSpPr>
          <p:cNvPr id="17" name="Rounded Rectangle 16"/>
          <p:cNvSpPr/>
          <p:nvPr/>
        </p:nvSpPr>
        <p:spPr>
          <a:xfrm>
            <a:off x="6154420" y="2057400"/>
            <a:ext cx="2551430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18" name="Rounded Rectangle 17"/>
          <p:cNvSpPr/>
          <p:nvPr/>
        </p:nvSpPr>
        <p:spPr>
          <a:xfrm>
            <a:off x="6154420" y="2057400"/>
            <a:ext cx="2551430" cy="566420"/>
          </a:xfrm>
          <a:prstGeom prst="roundRect">
            <a:avLst>
              <a:gd name="adj" fmla="val 7000"/>
            </a:avLst>
          </a:prstGeom>
          <a:solidFill>
            <a:srgbClr val="FF3A21"/>
          </a:solidFill>
          <a:ln>
            <a:noFill/>
          </a:ln>
        </p:spPr>
        <p:txBody>
          <a:bodyPr/>
          <a:p/>
        </p:txBody>
      </p:sp>
      <p:sp>
        <p:nvSpPr>
          <p:cNvPr id="19" name="Rectangle 18"/>
          <p:cNvSpPr/>
          <p:nvPr/>
        </p:nvSpPr>
        <p:spPr>
          <a:xfrm>
            <a:off x="6154420" y="2340610"/>
            <a:ext cx="2551430" cy="283210"/>
          </a:xfrm>
          <a:prstGeom prst="rect">
            <a:avLst/>
          </a:prstGeom>
          <a:solidFill>
            <a:srgbClr val="FF3A21"/>
          </a:solidFill>
          <a:ln>
            <a:noFill/>
          </a:ln>
        </p:spPr>
        <p:txBody>
          <a:bodyPr/>
          <a:p/>
        </p:txBody>
      </p:sp>
      <p:sp>
        <p:nvSpPr>
          <p:cNvPr id="20" name="TextBox 19"/>
          <p:cNvSpPr txBox="1"/>
          <p:nvPr/>
        </p:nvSpPr>
        <p:spPr>
          <a:xfrm>
            <a:off x="6154420" y="2057400"/>
            <a:ext cx="2551430" cy="56642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150" noProof="1" b="1" i="0">
                <a:solidFill>
                  <a:srgbClr val="FFFFFF"/>
                </a:solidFill>
                <a:latin typeface="Arial"/>
                <a:ea typeface="Arial"/>
              </a:rPr>
              <a:t>SDG 5 · Gender Equality</a:t>
            </a:r>
            <a:endParaRPr lang="en-US" sz="1150" noProof="1"/>
          </a:p>
        </p:txBody>
      </p:sp>
      <p:sp>
        <p:nvSpPr>
          <p:cNvPr id="21" name="TextBox 20"/>
          <p:cNvSpPr txBox="1"/>
          <p:nvPr/>
        </p:nvSpPr>
        <p:spPr>
          <a:xfrm>
            <a:off x="6383020" y="2788920"/>
            <a:ext cx="2103120" cy="20116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Recommendations must not systematically differ by gender or age — fairness checks are on the roadmap.</a:t>
            </a:r>
            <a:endParaRPr lang="en-US" sz="1050" noProof="1"/>
          </a:p>
        </p:txBody>
      </p:sp>
      <p:sp>
        <p:nvSpPr>
          <p:cNvPr id="22" name="Rounded Rectangle 21"/>
          <p:cNvSpPr/>
          <p:nvPr/>
        </p:nvSpPr>
        <p:spPr>
          <a:xfrm>
            <a:off x="8818880" y="2057400"/>
            <a:ext cx="2551430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</p:spPr>
        <p:txBody>
          <a:bodyPr/>
          <a:p/>
        </p:txBody>
      </p:sp>
      <p:sp>
        <p:nvSpPr>
          <p:cNvPr id="23" name="Rounded Rectangle 22"/>
          <p:cNvSpPr/>
          <p:nvPr/>
        </p:nvSpPr>
        <p:spPr>
          <a:xfrm>
            <a:off x="8818880" y="2057400"/>
            <a:ext cx="2551430" cy="566420"/>
          </a:xfrm>
          <a:prstGeom prst="roundRect">
            <a:avLst>
              <a:gd name="adj" fmla="val 7000"/>
            </a:avLst>
          </a:prstGeom>
          <a:solidFill>
            <a:srgbClr val="DD1367"/>
          </a:solidFill>
          <a:ln>
            <a:noFill/>
          </a:ln>
        </p:spPr>
        <p:txBody>
          <a:bodyPr/>
          <a:p/>
        </p:txBody>
      </p:sp>
      <p:sp>
        <p:nvSpPr>
          <p:cNvPr id="24" name="Rectangle 23"/>
          <p:cNvSpPr/>
          <p:nvPr/>
        </p:nvSpPr>
        <p:spPr>
          <a:xfrm>
            <a:off x="8818880" y="2340610"/>
            <a:ext cx="2551430" cy="283210"/>
          </a:xfrm>
          <a:prstGeom prst="rect">
            <a:avLst/>
          </a:prstGeom>
          <a:solidFill>
            <a:srgbClr val="DD1367"/>
          </a:solidFill>
          <a:ln>
            <a:noFill/>
          </a:ln>
        </p:spPr>
        <p:txBody>
          <a:bodyPr/>
          <a:p/>
        </p:txBody>
      </p:sp>
      <p:sp>
        <p:nvSpPr>
          <p:cNvPr id="25" name="TextBox 24"/>
          <p:cNvSpPr txBox="1"/>
          <p:nvPr/>
        </p:nvSpPr>
        <p:spPr>
          <a:xfrm>
            <a:off x="8818880" y="2057400"/>
            <a:ext cx="2551430" cy="56642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150" noProof="1" b="1" i="0">
                <a:solidFill>
                  <a:srgbClr val="FFFFFF"/>
                </a:solidFill>
                <a:latin typeface="Arial"/>
                <a:ea typeface="Arial"/>
              </a:rPr>
              <a:t>SDG 10 · Reduced Inequalities</a:t>
            </a:r>
            <a:endParaRPr lang="en-US" sz="1150" noProof="1"/>
          </a:p>
        </p:txBody>
      </p:sp>
      <p:sp>
        <p:nvSpPr>
          <p:cNvPr id="26" name="TextBox 25"/>
          <p:cNvSpPr txBox="1"/>
          <p:nvPr/>
        </p:nvSpPr>
        <p:spPr>
          <a:xfrm>
            <a:off x="9047480" y="2788920"/>
            <a:ext cx="2103120" cy="20116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i="0">
                <a:solidFill>
                  <a:srgbClr val="62704F"/>
                </a:solidFill>
                <a:latin typeface="Arial"/>
                <a:ea typeface="Arial"/>
              </a:rPr>
              <a:t>Trilingual, low-bandwidth design so urban and rural learners use the same tool.</a:t>
            </a:r>
            <a:endParaRPr lang="en-US" sz="1050" noProof="1"/>
          </a:p>
        </p:txBody>
      </p:sp>
      <p:sp>
        <p:nvSpPr>
          <p:cNvPr id="27" name="Rounded Rectangle 26"/>
          <p:cNvSpPr/>
          <p:nvPr/>
        </p:nvSpPr>
        <p:spPr>
          <a:xfrm>
            <a:off x="822960" y="5212080"/>
            <a:ext cx="10543540" cy="685800"/>
          </a:xfrm>
          <a:prstGeom prst="roundRect">
            <a:avLst>
              <a:gd name="adj" fmla="val 12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28" name="TextBox 27"/>
          <p:cNvSpPr txBox="1"/>
          <p:nvPr/>
        </p:nvSpPr>
        <p:spPr>
          <a:xfrm>
            <a:off x="1143000" y="5212080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 b="1" i="0">
                <a:solidFill>
                  <a:srgbClr val="3F4A26"/>
                </a:solidFill>
                <a:latin typeface="Arial"/>
                <a:ea typeface="Arial"/>
              </a:rPr>
              <a:t>Honest mapping: the skill-to-target crosswalk is the team's own reading of the 2030 Agenda — it is shown in-app and labelled as such, not claimed as an official UN correspondence.</a:t>
            </a:r>
            <a:endParaRPr lang="en-US" sz="1100" noProof="1"/>
          </a:p>
        </p:txBody>
      </p:sp>
      <p:sp>
        <p:nvSpPr>
          <p:cNvPr id="29" name="Rectangle 28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30" name="TextBox 29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31" name="TextBox 30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18 / 20</a:t>
            </a:r>
            <a:endParaRPr lang="en-US" sz="1000" noProof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85470"/>
            <a:ext cx="146050" cy="146050"/>
          </a:xfrm>
          <a:prstGeom prst="rect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3" name="TextBox 2"/>
          <p:cNvSpPr txBox="1"/>
          <p:nvPr/>
        </p:nvSpPr>
        <p:spPr>
          <a:xfrm>
            <a:off x="1097280" y="566420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50" noProof="1" b="1" i="0" spc="200" kern="0">
                <a:solidFill>
                  <a:srgbClr val="62704F"/>
                </a:solidFill>
                <a:latin typeface="Arial"/>
                <a:ea typeface="Arial"/>
              </a:rPr>
              <a:t>07 · PROTOTYPE · LIVE DEMO</a:t>
            </a:r>
            <a:endParaRPr lang="en-US" sz="1050" noProof="1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2700" noProof="1" b="1" i="0">
                <a:solidFill>
                  <a:srgbClr val="4B5A2A"/>
                </a:solidFill>
                <a:latin typeface="Arial"/>
                <a:ea typeface="Arial"/>
              </a:rPr>
              <a:t>Three screens from the running app</a:t>
            </a:r>
            <a:endParaRPr lang="en-US" sz="2700" noProof="1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</p:spPr>
        <p:txBody>
          <a:bodyPr/>
          <a:p/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657600" cy="328930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7" name="Rectangle 6"/>
          <p:cNvSpPr/>
          <p:nvPr/>
        </p:nvSpPr>
        <p:spPr>
          <a:xfrm>
            <a:off x="640080" y="1811020"/>
            <a:ext cx="3657600" cy="165100"/>
          </a:xfrm>
          <a:prstGeom prst="rect">
            <a:avLst/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8" name="Oval 7"/>
          <p:cNvSpPr/>
          <p:nvPr/>
        </p:nvSpPr>
        <p:spPr>
          <a:xfrm>
            <a:off x="768350" y="1765300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9" name="Oval 8"/>
          <p:cNvSpPr/>
          <p:nvPr/>
        </p:nvSpPr>
        <p:spPr>
          <a:xfrm>
            <a:off x="923290" y="1765300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10" name="Oval 9"/>
          <p:cNvSpPr/>
          <p:nvPr/>
        </p:nvSpPr>
        <p:spPr>
          <a:xfrm>
            <a:off x="1079500" y="1765300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</p:spPr>
        <p:txBody>
          <a:bodyPr/>
          <a:p/>
        </p:txBody>
      </p:sp>
      <p:sp>
        <p:nvSpPr>
          <p:cNvPr id="11" name="Rounded Rectangle 10-shape"/>
          <p:cNvSpPr/>
          <p:nvPr/>
        </p:nvSpPr>
        <p:spPr>
          <a:xfrm>
            <a:off x="1325880" y="1714500"/>
            <a:ext cx="2286000" cy="19177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2" name="Rounded Rectangle 10-text"/>
          <p:cNvSpPr txBox="1"/>
          <p:nvPr/>
        </p:nvSpPr>
        <p:spPr>
          <a:xfrm>
            <a:off x="1325880" y="1714500"/>
            <a:ext cx="2286000" cy="19177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850" noProof="1" i="0">
                <a:solidFill>
                  <a:srgbClr val="7A8663"/>
                </a:solidFill>
                <a:latin typeface="Arial"/>
                <a:ea typeface="Arial"/>
              </a:rPr>
              <a:t>sdc2026-lumina-nusantara…streamlit.app</a:t>
            </a:r>
            <a:endParaRPr lang="en-US" sz="850" noProof="1"/>
          </a:p>
        </p:txBody>
      </p:sp>
      <p:pic>
        <p:nvPicPr>
          <p:cNvPr id="13" name="Picture 11"/>
          <p:cNvPicPr/>
          <p:nvPr/>
        </p:nvPicPr>
        <p:blipFill>
          <a:blip r:embed="rId2"/>
          <a:stretch>
            <a:fillRect/>
          </a:stretch>
        </p:blipFill>
        <p:spPr>
          <a:xfrm>
            <a:off x="777240" y="2225040"/>
            <a:ext cx="3383280" cy="3001010"/>
          </a:xfrm>
          <a:prstGeom prst="rect">
            <a:avLst/>
          </a:prstGeom>
          <a:ln>
            <a:noFill/>
          </a:ln>
        </p:spPr>
      </p:pic>
      <p:sp>
        <p:nvSpPr>
          <p:cNvPr id="14" name="Oval 12-shape"/>
          <p:cNvSpPr/>
          <p:nvPr/>
        </p:nvSpPr>
        <p:spPr>
          <a:xfrm>
            <a:off x="502920" y="1480820"/>
            <a:ext cx="347980" cy="34798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15" name="Oval 12-text"/>
          <p:cNvSpPr txBox="1"/>
          <p:nvPr/>
        </p:nvSpPr>
        <p:spPr>
          <a:xfrm>
            <a:off x="502920" y="1480820"/>
            <a:ext cx="347980" cy="3479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lang="en-US" sz="1300" noProof="1"/>
          </a:p>
        </p:txBody>
      </p:sp>
      <p:sp>
        <p:nvSpPr>
          <p:cNvPr id="16" name="Rounded Rectangle 13"/>
          <p:cNvSpPr/>
          <p:nvPr/>
        </p:nvSpPr>
        <p:spPr>
          <a:xfrm>
            <a:off x="4572000" y="1645920"/>
            <a:ext cx="708660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</p:spPr>
        <p:txBody>
          <a:bodyPr/>
          <a:p/>
        </p:txBody>
      </p:sp>
      <p:sp>
        <p:nvSpPr>
          <p:cNvPr id="17" name="Rounded Rectangle 14"/>
          <p:cNvSpPr/>
          <p:nvPr/>
        </p:nvSpPr>
        <p:spPr>
          <a:xfrm>
            <a:off x="4572000" y="1645920"/>
            <a:ext cx="7086600" cy="328930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18" name="Rectangle 15"/>
          <p:cNvSpPr/>
          <p:nvPr/>
        </p:nvSpPr>
        <p:spPr>
          <a:xfrm>
            <a:off x="4572000" y="1811020"/>
            <a:ext cx="7086600" cy="165100"/>
          </a:xfrm>
          <a:prstGeom prst="rect">
            <a:avLst/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19" name="Oval 16"/>
          <p:cNvSpPr/>
          <p:nvPr/>
        </p:nvSpPr>
        <p:spPr>
          <a:xfrm>
            <a:off x="4700270" y="1765300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0" name="Oval 17"/>
          <p:cNvSpPr/>
          <p:nvPr/>
        </p:nvSpPr>
        <p:spPr>
          <a:xfrm>
            <a:off x="4855210" y="1765300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21" name="Oval 18"/>
          <p:cNvSpPr/>
          <p:nvPr/>
        </p:nvSpPr>
        <p:spPr>
          <a:xfrm>
            <a:off x="5011420" y="1765300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</p:spPr>
        <p:txBody>
          <a:bodyPr/>
          <a:p/>
        </p:txBody>
      </p:sp>
      <p:sp>
        <p:nvSpPr>
          <p:cNvPr id="22" name="Rounded Rectangle 19-shape"/>
          <p:cNvSpPr/>
          <p:nvPr/>
        </p:nvSpPr>
        <p:spPr>
          <a:xfrm>
            <a:off x="5257800" y="1714500"/>
            <a:ext cx="5715000" cy="19177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3" name="Rounded Rectangle 19-text"/>
          <p:cNvSpPr txBox="1"/>
          <p:nvPr/>
        </p:nvSpPr>
        <p:spPr>
          <a:xfrm>
            <a:off x="5257800" y="1714500"/>
            <a:ext cx="5715000" cy="19177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850" noProof="1" i="0">
                <a:solidFill>
                  <a:srgbClr val="7A8663"/>
                </a:solidFill>
                <a:latin typeface="Arial"/>
                <a:ea typeface="Arial"/>
              </a:rPr>
              <a:t>…streamlit.app · role matches</a:t>
            </a:r>
            <a:endParaRPr lang="en-US" sz="850" noProof="1"/>
          </a:p>
        </p:txBody>
      </p:sp>
      <p:pic>
        <p:nvPicPr>
          <p:cNvPr id="24" name="Picture 20"/>
          <p:cNvPicPr/>
          <p:nvPr/>
        </p:nvPicPr>
        <p:blipFill>
          <a:blip r:embed="rId3"/>
          <a:stretch>
            <a:fillRect/>
          </a:stretch>
        </p:blipFill>
        <p:spPr>
          <a:xfrm>
            <a:off x="5584190" y="2066290"/>
            <a:ext cx="5063490" cy="1811020"/>
          </a:xfrm>
          <a:prstGeom prst="rect">
            <a:avLst/>
          </a:prstGeom>
          <a:ln>
            <a:noFill/>
          </a:ln>
        </p:spPr>
      </p:pic>
      <p:sp>
        <p:nvSpPr>
          <p:cNvPr id="25" name="Oval 21-shape"/>
          <p:cNvSpPr/>
          <p:nvPr/>
        </p:nvSpPr>
        <p:spPr>
          <a:xfrm>
            <a:off x="4434840" y="1480820"/>
            <a:ext cx="347980" cy="34798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26" name="Oval 21-text"/>
          <p:cNvSpPr txBox="1"/>
          <p:nvPr/>
        </p:nvSpPr>
        <p:spPr>
          <a:xfrm>
            <a:off x="4434840" y="1480820"/>
            <a:ext cx="347980" cy="3479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lang="en-US" sz="1300" noProof="1"/>
          </a:p>
        </p:txBody>
      </p:sp>
      <p:sp>
        <p:nvSpPr>
          <p:cNvPr id="27" name="Rounded Rectangle 22"/>
          <p:cNvSpPr/>
          <p:nvPr/>
        </p:nvSpPr>
        <p:spPr>
          <a:xfrm>
            <a:off x="4572000" y="4188460"/>
            <a:ext cx="7086600" cy="16179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</p:spPr>
        <p:txBody>
          <a:bodyPr/>
          <a:p/>
        </p:txBody>
      </p:sp>
      <p:sp>
        <p:nvSpPr>
          <p:cNvPr id="28" name="Rounded Rectangle 23"/>
          <p:cNvSpPr/>
          <p:nvPr/>
        </p:nvSpPr>
        <p:spPr>
          <a:xfrm>
            <a:off x="4572000" y="4188460"/>
            <a:ext cx="7086600" cy="328930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29" name="Rectangle 24"/>
          <p:cNvSpPr/>
          <p:nvPr/>
        </p:nvSpPr>
        <p:spPr>
          <a:xfrm>
            <a:off x="4572000" y="4352290"/>
            <a:ext cx="7086600" cy="165100"/>
          </a:xfrm>
          <a:prstGeom prst="rect">
            <a:avLst/>
          </a:prstGeom>
          <a:solidFill>
            <a:srgbClr val="E4EED6"/>
          </a:solidFill>
          <a:ln>
            <a:noFill/>
          </a:ln>
        </p:spPr>
        <p:txBody>
          <a:bodyPr/>
          <a:p/>
        </p:txBody>
      </p:sp>
      <p:sp>
        <p:nvSpPr>
          <p:cNvPr id="30" name="Oval 25"/>
          <p:cNvSpPr/>
          <p:nvPr/>
        </p:nvSpPr>
        <p:spPr>
          <a:xfrm>
            <a:off x="4700270" y="4306570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31" name="Oval 26"/>
          <p:cNvSpPr/>
          <p:nvPr/>
        </p:nvSpPr>
        <p:spPr>
          <a:xfrm>
            <a:off x="4855210" y="4306570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</p:spPr>
        <p:txBody>
          <a:bodyPr/>
          <a:p/>
        </p:txBody>
      </p:sp>
      <p:sp>
        <p:nvSpPr>
          <p:cNvPr id="32" name="Oval 27"/>
          <p:cNvSpPr/>
          <p:nvPr/>
        </p:nvSpPr>
        <p:spPr>
          <a:xfrm>
            <a:off x="5011420" y="4306570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</p:spPr>
        <p:txBody>
          <a:bodyPr/>
          <a:p/>
        </p:txBody>
      </p:sp>
      <p:sp>
        <p:nvSpPr>
          <p:cNvPr id="33" name="Rounded Rectangle 28-shape"/>
          <p:cNvSpPr/>
          <p:nvPr/>
        </p:nvSpPr>
        <p:spPr>
          <a:xfrm>
            <a:off x="5257800" y="4257040"/>
            <a:ext cx="5715000" cy="19177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4" name="Rounded Rectangle 28-text"/>
          <p:cNvSpPr txBox="1"/>
          <p:nvPr/>
        </p:nvSpPr>
        <p:spPr>
          <a:xfrm>
            <a:off x="5257800" y="4257040"/>
            <a:ext cx="5715000" cy="19177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850" noProof="1" i="0">
                <a:solidFill>
                  <a:srgbClr val="7A8663"/>
                </a:solidFill>
                <a:latin typeface="Arial"/>
                <a:ea typeface="Arial"/>
              </a:rPr>
              <a:t>…streamlit.app · pathway &amp; SDG</a:t>
            </a:r>
            <a:endParaRPr lang="en-US" sz="850" noProof="1"/>
          </a:p>
        </p:txBody>
      </p:sp>
      <p:pic>
        <p:nvPicPr>
          <p:cNvPr id="35" name="Picture 29"/>
          <p:cNvPicPr/>
          <p:nvPr/>
        </p:nvPicPr>
        <p:blipFill>
          <a:blip r:embed="rId4"/>
          <a:stretch>
            <a:fillRect/>
          </a:stretch>
        </p:blipFill>
        <p:spPr>
          <a:xfrm>
            <a:off x="4928870" y="4626610"/>
            <a:ext cx="3483610" cy="1079500"/>
          </a:xfrm>
          <a:prstGeom prst="rect">
            <a:avLst/>
          </a:prstGeom>
          <a:ln>
            <a:noFill/>
          </a:ln>
        </p:spPr>
      </p:pic>
      <p:pic>
        <p:nvPicPr>
          <p:cNvPr id="36" name="Picture 30"/>
          <p:cNvPicPr/>
          <p:nvPr/>
        </p:nvPicPr>
        <p:blipFill>
          <a:blip r:embed="rId5"/>
          <a:stretch>
            <a:fillRect/>
          </a:stretch>
        </p:blipFill>
        <p:spPr>
          <a:xfrm>
            <a:off x="8987790" y="4589780"/>
            <a:ext cx="2279650" cy="1151890"/>
          </a:xfrm>
          <a:prstGeom prst="rect">
            <a:avLst/>
          </a:prstGeom>
          <a:ln>
            <a:noFill/>
          </a:ln>
        </p:spPr>
      </p:pic>
      <p:sp>
        <p:nvSpPr>
          <p:cNvPr id="37" name="Oval 31-shape"/>
          <p:cNvSpPr/>
          <p:nvPr/>
        </p:nvSpPr>
        <p:spPr>
          <a:xfrm>
            <a:off x="4434840" y="4023360"/>
            <a:ext cx="347980" cy="347980"/>
          </a:xfrm>
          <a:prstGeom prst="ellipse">
            <a:avLst/>
          </a:prstGeom>
          <a:solidFill>
            <a:srgbClr val="8A9A5B"/>
          </a:solidFill>
          <a:ln>
            <a:noFill/>
          </a:ln>
        </p:spPr>
        <p:txBody>
          <a:bodyPr/>
          <a:p/>
        </p:txBody>
      </p:sp>
      <p:sp>
        <p:nvSpPr>
          <p:cNvPr id="38" name="Oval 31-text"/>
          <p:cNvSpPr txBox="1"/>
          <p:nvPr/>
        </p:nvSpPr>
        <p:spPr>
          <a:xfrm>
            <a:off x="4434840" y="4023360"/>
            <a:ext cx="347980" cy="34798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300" noProof="1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lang="en-US" sz="1300" noProof="1"/>
          </a:p>
        </p:txBody>
      </p:sp>
      <p:sp>
        <p:nvSpPr>
          <p:cNvPr id="39" name="TextBox 32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950" noProof="1" i="1">
                <a:solidFill>
                  <a:srgbClr val="7A8663"/>
                </a:solidFill>
                <a:latin typeface="Arial"/>
                <a:ea typeface="Arial"/>
              </a:rPr>
              <a:t>Screenshots captured from the live demo · synthetic sample data · free-tier instance may take 30–60 s to wake.</a:t>
            </a:r>
            <a:endParaRPr lang="en-US" sz="950" noProof="1"/>
          </a:p>
        </p:txBody>
      </p:sp>
      <p:sp>
        <p:nvSpPr>
          <p:cNvPr id="40" name="Rectangle 33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D7DFC7"/>
          </a:solidFill>
          <a:ln>
            <a:noFill/>
          </a:ln>
        </p:spPr>
        <p:txBody>
          <a:bodyPr/>
          <a:p/>
        </p:txBody>
      </p:sp>
      <p:sp>
        <p:nvSpPr>
          <p:cNvPr id="41" name="TextBox 34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42" name="TextBox 35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7A8663"/>
                </a:solidFill>
                <a:latin typeface="Arial"/>
                <a:ea typeface="Arial"/>
              </a:rPr>
              <a:t>19 / 20</a:t>
            </a:r>
            <a:endParaRPr lang="en-US" sz="1000" noProof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/>
          <a:p/>
        </p:txBody>
      </p:sp>
      <p:sp>
        <p:nvSpPr>
          <p:cNvPr id="3" name="Oval 2"/>
          <p:cNvSpPr/>
          <p:nvPr/>
        </p:nvSpPr>
        <p:spPr>
          <a:xfrm>
            <a:off x="840740" y="777240"/>
            <a:ext cx="457200" cy="457200"/>
          </a:xfrm>
          <a:prstGeom prst="ellipse">
            <a:avLst/>
          </a:prstGeom>
          <a:solidFill>
            <a:srgbClr val="4F81BD"/>
          </a:solidFill>
          <a:ln w="27940">
            <a:solidFill>
              <a:srgbClr val="F2F5E9"/>
            </a:solidFill>
          </a:ln>
        </p:spPr>
        <p:txBody>
          <a:bodyPr/>
          <a:p/>
        </p:txBody>
      </p:sp>
      <p:sp>
        <p:nvSpPr>
          <p:cNvPr id="4" name="Diamond 3"/>
          <p:cNvSpPr/>
          <p:nvPr/>
        </p:nvSpPr>
        <p:spPr>
          <a:xfrm>
            <a:off x="977900" y="850900"/>
            <a:ext cx="182880" cy="182880"/>
          </a:xfrm>
          <a:prstGeom prst="diamond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5" name="Oval 4"/>
          <p:cNvSpPr/>
          <p:nvPr/>
        </p:nvSpPr>
        <p:spPr>
          <a:xfrm>
            <a:off x="1042670" y="977900"/>
            <a:ext cx="54610" cy="54610"/>
          </a:xfrm>
          <a:prstGeom prst="ellipse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1445260" y="85979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 spc="300" kern="0">
                <a:solidFill>
                  <a:srgbClr val="3F4A26"/>
                </a:solidFill>
                <a:latin typeface="Arial"/>
                <a:ea typeface="Arial"/>
              </a:rPr>
              <a:t>SKILLRADAR MY</a:t>
            </a:r>
            <a:endParaRPr lang="en-US" sz="1300" noProof="1"/>
          </a:p>
        </p:txBody>
      </p:sp>
      <p:sp>
        <p:nvSpPr>
          <p:cNvPr id="7" name="TextBox 6"/>
          <p:cNvSpPr txBox="1"/>
          <p:nvPr/>
        </p:nvSpPr>
        <p:spPr>
          <a:xfrm>
            <a:off x="840740" y="2148840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3600" noProof="1" b="1" i="0">
                <a:solidFill>
                  <a:srgbClr val="3F4A26"/>
                </a:solidFill>
                <a:latin typeface="Arial"/>
                <a:ea typeface="Arial"/>
              </a:rPr>
              <a:t>Make AI everyone's partner —</a:t>
            </a:r>
            <a:endParaRPr lang="en-US" sz="3600" noProof="1"/>
          </a:p>
          <a:p>
            <a:pPr algn="l">
              <a:lnSpc>
                <a:spcPct val="120000"/>
              </a:lnSpc>
            </a:pPr>
            <a:r>
              <a:rPr lang="en-US" sz="3600" noProof="1" b="1" i="0">
                <a:solidFill>
                  <a:srgbClr val="3F4A26"/>
                </a:solidFill>
                <a:latin typeface="Arial"/>
                <a:ea typeface="Arial"/>
              </a:rPr>
              <a:t>not their replacement.</a:t>
            </a:r>
            <a:endParaRPr lang="en-US" sz="3600" noProof="1"/>
          </a:p>
        </p:txBody>
      </p:sp>
      <p:sp>
        <p:nvSpPr>
          <p:cNvPr id="8" name="Rectangle 7"/>
          <p:cNvSpPr/>
          <p:nvPr/>
        </p:nvSpPr>
        <p:spPr>
          <a:xfrm>
            <a:off x="877570" y="3794760"/>
            <a:ext cx="777240" cy="45720"/>
          </a:xfrm>
          <a:prstGeom prst="rect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840740" y="416052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01</a:t>
            </a:r>
            <a:endParaRPr lang="en-US" sz="1300" noProof="1"/>
          </a:p>
        </p:txBody>
      </p:sp>
      <p:sp>
        <p:nvSpPr>
          <p:cNvPr id="10" name="TextBox 9"/>
          <p:cNvSpPr txBox="1"/>
          <p:nvPr/>
        </p:nvSpPr>
        <p:spPr>
          <a:xfrm>
            <a:off x="1371600" y="4169410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i="0">
                <a:solidFill>
                  <a:srgbClr val="4B5A2A"/>
                </a:solidFill>
                <a:latin typeface="Arial"/>
                <a:ea typeface="Arial"/>
              </a:rPr>
              <a:t>Pilot with TVET institutions and career centres</a:t>
            </a:r>
            <a:endParaRPr lang="en-US" sz="1250" noProof="1"/>
          </a:p>
        </p:txBody>
      </p:sp>
      <p:sp>
        <p:nvSpPr>
          <p:cNvPr id="11" name="TextBox 10"/>
          <p:cNvSpPr txBox="1"/>
          <p:nvPr/>
        </p:nvSpPr>
        <p:spPr>
          <a:xfrm>
            <a:off x="840740" y="456311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02</a:t>
            </a:r>
            <a:endParaRPr lang="en-US" sz="1300" noProof="1"/>
          </a:p>
        </p:txBody>
      </p:sp>
      <p:sp>
        <p:nvSpPr>
          <p:cNvPr id="12" name="TextBox 11"/>
          <p:cNvSpPr txBox="1"/>
          <p:nvPr/>
        </p:nvSpPr>
        <p:spPr>
          <a:xfrm>
            <a:off x="1371600" y="4572000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i="0">
                <a:solidFill>
                  <a:srgbClr val="4B5A2A"/>
                </a:solidFill>
                <a:latin typeface="Arial"/>
                <a:ea typeface="Arial"/>
              </a:rPr>
              <a:t>Verified course catalogue — real durations, links and fees</a:t>
            </a:r>
            <a:endParaRPr lang="en-US" sz="1250" noProof="1"/>
          </a:p>
        </p:txBody>
      </p:sp>
      <p:sp>
        <p:nvSpPr>
          <p:cNvPr id="13" name="TextBox 12"/>
          <p:cNvSpPr txBox="1"/>
          <p:nvPr/>
        </p:nvSpPr>
        <p:spPr>
          <a:xfrm>
            <a:off x="840740" y="496570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300" noProof="1" b="1" i="0">
                <a:solidFill>
                  <a:srgbClr val="4B5A2A"/>
                </a:solidFill>
                <a:latin typeface="Arial"/>
                <a:ea typeface="Arial"/>
              </a:rPr>
              <a:t>03</a:t>
            </a:r>
            <a:endParaRPr lang="en-US" sz="1300" noProof="1"/>
          </a:p>
        </p:txBody>
      </p:sp>
      <p:sp>
        <p:nvSpPr>
          <p:cNvPr id="14" name="TextBox 13"/>
          <p:cNvSpPr txBox="1"/>
          <p:nvPr/>
        </p:nvSpPr>
        <p:spPr>
          <a:xfrm>
            <a:off x="1371600" y="4974590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50" noProof="1" i="0">
                <a:solidFill>
                  <a:srgbClr val="4B5A2A"/>
                </a:solidFill>
                <a:latin typeface="Arial"/>
                <a:ea typeface="Arial"/>
              </a:rPr>
              <a:t>Fairness audits across age, gender and background</a:t>
            </a:r>
            <a:endParaRPr lang="en-US" sz="1250" noProof="1"/>
          </a:p>
        </p:txBody>
      </p:sp>
      <p:sp>
        <p:nvSpPr>
          <p:cNvPr id="15" name="Rounded Rectangle 14"/>
          <p:cNvSpPr/>
          <p:nvPr/>
        </p:nvSpPr>
        <p:spPr>
          <a:xfrm>
            <a:off x="7635240" y="3977640"/>
            <a:ext cx="3731260" cy="1920240"/>
          </a:xfrm>
          <a:prstGeom prst="roundRect">
            <a:avLst>
              <a:gd name="adj" fmla="val 8000"/>
            </a:avLst>
          </a:prstGeom>
          <a:solidFill>
            <a:srgbClr val="6F8140"/>
          </a:solidFill>
          <a:ln w="9525">
            <a:solidFill>
              <a:srgbClr val="3F4A26"/>
            </a:solidFill>
          </a:ln>
        </p:spPr>
        <p:txBody>
          <a:bodyPr/>
          <a:p/>
        </p:txBody>
      </p:sp>
      <p:sp>
        <p:nvSpPr>
          <p:cNvPr id="16" name="TextBox 15"/>
          <p:cNvSpPr txBox="1"/>
          <p:nvPr/>
        </p:nvSpPr>
        <p:spPr>
          <a:xfrm>
            <a:off x="7955280" y="41605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950" noProof="1" b="1" i="0" spc="200" kern="0">
                <a:solidFill>
                  <a:srgbClr val="C9D4A9"/>
                </a:solidFill>
                <a:latin typeface="Arial"/>
                <a:ea typeface="Arial"/>
              </a:rPr>
              <a:t>TRY IT YOURSELF</a:t>
            </a:r>
            <a:endParaRPr lang="en-US" sz="950" noProof="1"/>
          </a:p>
        </p:txBody>
      </p:sp>
      <p:sp>
        <p:nvSpPr>
          <p:cNvPr id="17" name="TextBox 16"/>
          <p:cNvSpPr txBox="1"/>
          <p:nvPr/>
        </p:nvSpPr>
        <p:spPr>
          <a:xfrm>
            <a:off x="7955280" y="4526280"/>
            <a:ext cx="3200400" cy="1691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 b="1" i="0" u="sng">
                <a:solidFill>
                  <a:srgbClr val="4B5A2A"/>
                </a:solidFill>
                <a:latin typeface="Arial"/>
                <a:ea typeface="Arial"/>
                <a:hlinkClick r:id="rId2"/>
              </a:rPr>
              <a:t>Live demo (Streamlit)</a:t>
            </a:r>
            <a:endParaRPr lang="en-US" sz="1600" noProof="1"/>
          </a:p>
          <a:p>
            <a:pPr algn="l">
              <a:lnSpc>
                <a:spcPct val="120000"/>
              </a:lnSpc>
            </a:pPr>
            <a:r>
              <a:rPr lang="en-US" sz="950" noProof="1" i="0">
                <a:solidFill>
                  <a:srgbClr val="C9D4A9"/>
                </a:solidFill>
                <a:latin typeface="Arial"/>
                <a:ea typeface="Arial"/>
              </a:rPr>
              <a:t>sdc2026-lumina-nusantara…streamlit.app</a:t>
            </a:r>
            <a:endParaRPr lang="en-US" sz="1600" noProof="1"/>
          </a:p>
          <a:p>
            <a:pPr algn="l">
              <a:lnSpc>
                <a:spcPct val="120000"/>
              </a:lnSpc>
            </a:pPr>
            <a:r>
              <a:rPr lang="en-US" sz="1200" noProof="1" b="1" i="0" u="sng">
                <a:solidFill>
                  <a:srgbClr val="4B5A2A"/>
                </a:solidFill>
                <a:latin typeface="Arial"/>
                <a:ea typeface="Arial"/>
                <a:hlinkClick r:id="rId3"/>
              </a:rPr>
              <a:t>GitHub repository</a:t>
            </a:r>
            <a:endParaRPr lang="en-US" sz="1600" noProof="1"/>
          </a:p>
          <a:p>
            <a:pPr algn="l">
              <a:lnSpc>
                <a:spcPct val="120000"/>
              </a:lnSpc>
            </a:pPr>
            <a:r>
              <a:rPr lang="en-US" sz="950" noProof="1" i="0">
                <a:solidFill>
                  <a:srgbClr val="C9D4A9"/>
                </a:solidFill>
                <a:latin typeface="Arial"/>
                <a:ea typeface="Arial"/>
              </a:rPr>
              <a:t>github.com/douyinlin/sdc2026-lumina-nusantara</a:t>
            </a:r>
            <a:endParaRPr lang="en-US" sz="1600" noProof="1"/>
          </a:p>
          <a:p>
            <a:pPr algn="l">
              <a:lnSpc>
                <a:spcPct val="120000"/>
              </a:lnSpc>
            </a:pPr>
            <a:r>
              <a:rPr lang="en-US" sz="1200" noProof="1" b="1" i="0" u="sng">
                <a:solidFill>
                  <a:srgbClr val="4B5A2A"/>
                </a:solidFill>
                <a:latin typeface="Arial"/>
                <a:ea typeface="Arial"/>
                <a:hlinkClick r:id="rId3"/>
              </a:rPr>
              <a:t>Replit deployment</a:t>
            </a:r>
            <a:endParaRPr lang="en-US" sz="1600" noProof="1"/>
          </a:p>
          <a:p>
            <a:pPr algn="l">
              <a:lnSpc>
                <a:spcPct val="120000"/>
              </a:lnSpc>
            </a:pPr>
            <a:r>
              <a:rPr lang="en-US" sz="950" noProof="1" i="0">
                <a:solidFill>
                  <a:srgbClr val="C9D4A9"/>
                </a:solidFill>
                <a:latin typeface="Arial"/>
                <a:ea typeface="Arial"/>
              </a:rPr>
              <a:t>skill-radar-my-streamlit-app.replit.app</a:t>
            </a:r>
            <a:endParaRPr lang="en-US" sz="1600" noProof="1"/>
          </a:p>
        </p:txBody>
      </p:sp>
      <p:sp>
        <p:nvSpPr>
          <p:cNvPr id="18" name="TextBox 17"/>
          <p:cNvSpPr txBox="1"/>
          <p:nvPr/>
        </p:nvSpPr>
        <p:spPr>
          <a:xfrm>
            <a:off x="840740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 b="1" i="0" spc="300" kern="0">
                <a:solidFill>
                  <a:srgbClr val="4B5A2A"/>
                </a:solidFill>
                <a:latin typeface="Arial"/>
                <a:ea typeface="Arial"/>
              </a:rPr>
              <a:t>THANK YOU · Q&amp;A</a:t>
            </a:r>
            <a:endParaRPr lang="en-US" sz="1200" noProof="1"/>
          </a:p>
        </p:txBody>
      </p:sp>
      <p:sp>
        <p:nvSpPr>
          <p:cNvPr id="19" name="Rectangle 18"/>
          <p:cNvSpPr/>
          <p:nvPr/>
        </p:nvSpPr>
        <p:spPr>
          <a:xfrm>
            <a:off x="822960" y="6418580"/>
            <a:ext cx="10543540" cy="11430"/>
          </a:xfrm>
          <a:prstGeom prst="rect">
            <a:avLst/>
          </a:prstGeom>
          <a:solidFill>
            <a:srgbClr val="3F4A26"/>
          </a:solidFill>
          <a:ln>
            <a:noFill/>
          </a:ln>
        </p:spPr>
        <p:txBody>
          <a:bodyPr/>
          <a:p/>
        </p:txBody>
      </p:sp>
      <p:sp>
        <p:nvSpPr>
          <p:cNvPr id="20" name="TextBox 19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000" noProof="1" i="0" spc="100" kern="0">
                <a:solidFill>
                  <a:srgbClr val="4B5A2A"/>
                </a:solidFill>
                <a:latin typeface="Arial"/>
                <a:ea typeface="Arial"/>
              </a:rPr>
              <a:t>SkillRadar MY · Lumina Nusantara · SDC 2026</a:t>
            </a:r>
            <a:endParaRPr lang="en-US" sz="1000" noProof="1"/>
          </a:p>
        </p:txBody>
      </p:sp>
      <p:sp>
        <p:nvSpPr>
          <p:cNvPr id="21" name="TextBox 20"/>
          <p:cNvSpPr txBox="1"/>
          <p:nvPr/>
        </p:nvSpPr>
        <p:spPr>
          <a:xfrm>
            <a:off x="9966960" y="6492240"/>
            <a:ext cx="1399540" cy="27432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 i="0" spc="100" kern="0">
                <a:solidFill>
                  <a:srgbClr val="4B5A2A"/>
                </a:solidFill>
                <a:latin typeface="Arial"/>
                <a:ea typeface="Arial"/>
              </a:rPr>
              <a:t>20 / 20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E8C6"/>
      </a:hlink>
      <a:folHlink>
        <a:srgbClr val="B7C98F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20</Slides>
</Properties>
</file>

<file path=docProps/core.xml><?xml version="1.0" encoding="utf-8"?>
<cp:coreProperties xmlns:dc="http://purl.org/dc/elements/1.1/" xmlns:cp="http://schemas.openxmlformats.org/package/2006/metadata/core-properties">
  <dc:title>SkillRadar MY — SDC 2026 Merged Deck (Main + Demo Profiles)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