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321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dc2026-lumina-nusantara-65cnugvuxdle5dgp9ky3fs.streamlit.app" TargetMode="External"/><Relationship Id="rId3" Type="http://schemas.openxmlformats.org/officeDocument/2006/relationships/hyperlink" Target="https://github.com/douyinlin/sdc2026-lumina-nusanta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9A5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240">
            <a:solidFill>
              <a:srgbClr val="F2F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-640080"/>
            <a:ext cx="2560320" cy="2560320"/>
          </a:xfrm>
          <a:prstGeom prst="ellipse">
            <a:avLst/>
          </a:prstGeom>
          <a:noFill/>
          <a:ln w="12700">
            <a:solidFill>
              <a:srgbClr val="F2F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777240"/>
            <a:ext cx="512064" cy="512064"/>
          </a:xfrm>
          <a:prstGeom prst="ellipse">
            <a:avLst/>
          </a:prstGeom>
          <a:noFill/>
          <a:ln w="27940">
            <a:solidFill>
              <a:srgbClr val="F2F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iamond 6"/>
          <p:cNvSpPr/>
          <p:nvPr/>
        </p:nvSpPr>
        <p:spPr>
          <a:xfrm>
            <a:off x="994867" y="859170"/>
            <a:ext cx="204825" cy="204825"/>
          </a:xfrm>
          <a:prstGeom prst="diamond">
            <a:avLst/>
          </a:prstGeom>
          <a:solidFill>
            <a:srgbClr val="3F4A2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66556" y="1002548"/>
            <a:ext cx="61447" cy="61447"/>
          </a:xfrm>
          <a:prstGeom prst="ellipse">
            <a:avLst/>
          </a:prstGeom>
          <a:solidFill>
            <a:srgbClr val="3F4A2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81328" y="8686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3F4A26"/>
                </a:solidFill>
                <a:latin typeface="Arial"/>
              </a:rPr>
              <a:t>SKILLRADAR 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1887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300">
                <a:solidFill>
                  <a:srgbClr val="4B5A2A"/>
                </a:solidFill>
                <a:latin typeface="Arial"/>
              </a:rPr>
              <a:t>LUMINA NUSANTARA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" y="23545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B5A2A"/>
                </a:solidFill>
                <a:latin typeface="Arial"/>
              </a:rPr>
              <a:t>SDC 2026 · DOMAIN 1 — THE AIVERSECITY FUTURE-READY WORKFORCE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697479"/>
            <a:ext cx="10702700" cy="1354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 dirty="0">
                <a:solidFill>
                  <a:srgbClr val="3F4A26"/>
                </a:solidFill>
                <a:latin typeface="Arial"/>
              </a:rPr>
              <a:t>From who I am today</a:t>
            </a:r>
          </a:p>
          <a:p>
            <a:pPr algn="l"/>
            <a:r>
              <a:rPr sz="4400" b="1" i="0" dirty="0">
                <a:solidFill>
                  <a:srgbClr val="3F4A26"/>
                </a:solidFill>
                <a:latin typeface="Arial"/>
              </a:rPr>
              <a:t>to where I can be in the AI era.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" y="4590288"/>
            <a:ext cx="777240" cy="45720"/>
          </a:xfrm>
          <a:prstGeom prst="rect">
            <a:avLst/>
          </a:prstGeom>
          <a:solidFill>
            <a:srgbClr val="3F4A2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480060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4B5A2A"/>
                </a:solidFill>
                <a:latin typeface="Arial"/>
              </a:rPr>
              <a:t>Explainable role matching · versioned labour-market signals · personalised reskilling pathways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5532120"/>
            <a:ext cx="1830628" cy="310896"/>
          </a:xfrm>
          <a:prstGeom prst="roundRect">
            <a:avLst>
              <a:gd name="adj" fmla="val 50000"/>
            </a:avLst>
          </a:prstGeom>
          <a:solidFill>
            <a:srgbClr val="4B5A2A"/>
          </a:solidFill>
          <a:ln w="12700">
            <a:solidFill>
              <a:srgbClr val="F2F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950" b="1" i="0">
                <a:solidFill>
                  <a:srgbClr val="F2F5E9"/>
                </a:solidFill>
                <a:latin typeface="Arial"/>
              </a:rPr>
              <a:t>TEAM LUMINA NUSANTARA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99892" y="5532120"/>
            <a:ext cx="2205532" cy="310896"/>
          </a:xfrm>
          <a:prstGeom prst="roundRect">
            <a:avLst>
              <a:gd name="adj" fmla="val 50000"/>
            </a:avLst>
          </a:prstGeom>
          <a:solidFill>
            <a:srgbClr val="4B5A2A"/>
          </a:solidFill>
          <a:ln w="12700">
            <a:solidFill>
              <a:srgbClr val="F2F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950" b="1" i="0">
                <a:solidFill>
                  <a:srgbClr val="F2F5E9"/>
                </a:solidFill>
                <a:latin typeface="Arial"/>
              </a:rPr>
              <a:t>XIAMEN UNIVERSITY MALAYSIA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3441" y="5532120"/>
            <a:ext cx="2130552" cy="310896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SDG 4 · TARGETS 4.4 / 8.5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327" y="6122963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00" dirty="0">
                <a:solidFill>
                  <a:srgbClr val="4B5A2A"/>
                </a:solidFill>
                <a:latin typeface="Arial"/>
              </a:rPr>
              <a:t>Preliminary-round deck · Live demo on </a:t>
            </a:r>
            <a:r>
              <a:rPr sz="1000" b="0" i="0" spc="100" dirty="0" err="1">
                <a:solidFill>
                  <a:srgbClr val="4B5A2A"/>
                </a:solidFill>
                <a:latin typeface="Arial"/>
              </a:rPr>
              <a:t>Streamlit</a:t>
            </a:r>
            <a:r>
              <a:rPr sz="1000" b="0" i="0" spc="100" dirty="0">
                <a:solidFill>
                  <a:srgbClr val="4B5A2A"/>
                </a:solidFill>
                <a:latin typeface="Arial"/>
              </a:rPr>
              <a:t> Community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841248"/>
            <a:ext cx="146304" cy="146304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2704F"/>
                </a:solidFill>
                <a:latin typeface="Arial"/>
              </a:rPr>
              <a:t> · SDC 2026 · SKILLRADAR 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4B5A2A"/>
                </a:solidFill>
                <a:latin typeface="Arial"/>
              </a:rPr>
              <a:t>Contents</a:t>
            </a:r>
          </a:p>
          <a:p>
            <a:pPr algn="l">
              <a:spcBef>
                <a:spcPts val="600"/>
              </a:spcBef>
            </a:pPr>
            <a:r>
              <a:rPr sz="1100" b="1" i="0" spc="200">
                <a:solidFill>
                  <a:srgbClr val="7A8663"/>
                </a:solidFill>
                <a:latin typeface="Arial"/>
              </a:rPr>
              <a:t>WHAT'S INSIDE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2697480"/>
            <a:ext cx="548640" cy="50292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3108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2704F"/>
                </a:solidFill>
                <a:latin typeface="Arial"/>
              </a:rPr>
              <a:t>An AI-assisted reskilling navigator built on the UN Sustainable Development Goals — led by SDG 4, Quality Education.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914400"/>
            <a:ext cx="12801" cy="4937760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9601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8A9A5B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9601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B5A2A"/>
                </a:solidFill>
                <a:latin typeface="Arial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98755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The training gap is widening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435608"/>
            <a:ext cx="6903720" cy="10058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6916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8A9A5B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6916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B5A2A"/>
                </a:solidFill>
                <a:latin typeface="Arial"/>
              </a:rPr>
              <a:t>Who we build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1907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Four personas, one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167128"/>
            <a:ext cx="6903720" cy="10058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24231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8A9A5B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4231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B5A2A"/>
                </a:solidFill>
                <a:latin typeface="Arial"/>
              </a:rPr>
              <a:t>Our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5059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Four steps to a new role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898648"/>
            <a:ext cx="6903720" cy="10058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1546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8A9A5B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1546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B5A2A"/>
                </a:solidFill>
                <a:latin typeface="Arial"/>
              </a:rPr>
              <a:t>Key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8211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The six must-haves, delivered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630168"/>
            <a:ext cx="6903720" cy="10058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38862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8A9A5B"/>
                </a:solidFill>
                <a:latin typeface="Arial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8862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B5A2A"/>
                </a:solidFill>
                <a:latin typeface="Arial"/>
              </a:rPr>
              <a:t>Explainable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91363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Five inputs, fully auditable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361688"/>
            <a:ext cx="6903720" cy="10058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46177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8A9A5B"/>
                </a:solidFill>
                <a:latin typeface="Arial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46177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B5A2A"/>
                </a:solidFill>
                <a:latin typeface="Arial"/>
              </a:rPr>
              <a:t>Technical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64515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Signals in, pathways out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5093208"/>
            <a:ext cx="6903720" cy="10058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0" y="53492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8A9A5B"/>
                </a:solidFill>
                <a:latin typeface="Arial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53492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B5A2A"/>
                </a:solidFill>
                <a:latin typeface="Arial"/>
              </a:rPr>
              <a:t>SDG impact &amp; 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37667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Intended contribution, live proof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5824727"/>
            <a:ext cx="6903720" cy="10058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00">
                <a:solidFill>
                  <a:srgbClr val="7A8663"/>
                </a:solidFill>
                <a:latin typeface="Arial"/>
              </a:rPr>
              <a:t>SkillRadar MY · Lumina Nusantara · SDC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649224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100">
                <a:solidFill>
                  <a:srgbClr val="7A8663"/>
                </a:solidFill>
                <a:latin typeface="Arial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146304" cy="146304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5669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2704F"/>
                </a:solidFill>
                <a:latin typeface="Arial"/>
              </a:rPr>
              <a:t>01 · PROBLEM ·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4B5A2A"/>
                </a:solidFill>
                <a:latin typeface="Arial"/>
              </a:rPr>
              <a:t>AI is changing roles faster than training systems can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8A9A5B"/>
                </a:solidFill>
                <a:latin typeface="Arial"/>
              </a:rPr>
              <a:t>56%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F4A26"/>
                </a:solidFill>
                <a:latin typeface="Arial"/>
              </a:rPr>
              <a:t>of Malaysian professionals already use AI tools at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383280"/>
            <a:ext cx="914400" cy="41148"/>
          </a:xfrm>
          <a:prstGeom prst="rect">
            <a:avLst/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74519" y="321868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2704F"/>
                </a:solidFill>
                <a:latin typeface="Arial"/>
              </a:rPr>
              <a:t>yet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5B7FA6"/>
                </a:solidFill>
                <a:latin typeface="Arial"/>
              </a:rPr>
              <a:t>26%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57200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F4A26"/>
                </a:solidFill>
                <a:latin typeface="Arial"/>
              </a:rPr>
              <a:t>have received any formal AI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029200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2704F"/>
                </a:solidFill>
                <a:latin typeface="Arial"/>
              </a:rPr>
              <a:t>A 30-point gap between tool adoption and capability — most people are improvising with AI, unguided.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874519"/>
            <a:ext cx="12801" cy="3931920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2057400"/>
            <a:ext cx="4114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4B5A2A"/>
                </a:solidFill>
                <a:latin typeface="Arial"/>
              </a:rPr>
              <a:t>600k+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306324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F4A26"/>
                </a:solidFill>
                <a:latin typeface="Arial"/>
              </a:rPr>
              <a:t>Malaysian workers are expected to need reskilling within the next 3–5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37033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62704F"/>
                </a:solidFill>
                <a:latin typeface="Arial"/>
              </a:rPr>
              <a:t>— Ministry of Science, Technology &amp; Innovation (MOSTI)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4343400"/>
            <a:ext cx="3977639" cy="41148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33488" y="4526280"/>
            <a:ext cx="4023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2704F"/>
                </a:solidFill>
                <a:latin typeface="Arial"/>
              </a:rPr>
              <a:t>The reskilling window is closing: skill frameworks haven't caught up, and job requirements have already moved.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5332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A8663"/>
                </a:solidFill>
                <a:latin typeface="Arial"/>
              </a:rPr>
              <a:t>Sources: Hays Asia Salary Guide 2025; MOSTI public statement (2025).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00">
                <a:solidFill>
                  <a:srgbClr val="7A8663"/>
                </a:solidFill>
                <a:latin typeface="Arial"/>
              </a:rPr>
              <a:t>SkillRadar MY · Lumina Nusantara · SDC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49224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100">
                <a:solidFill>
                  <a:srgbClr val="7A8663"/>
                </a:solidFill>
                <a:latin typeface="Arial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146304" cy="146304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5669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2704F"/>
                </a:solidFill>
                <a:latin typeface="Arial"/>
              </a:rPr>
              <a:t>01 · PROBLEM ·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4B5A2A"/>
                </a:solidFill>
                <a:latin typeface="Arial"/>
              </a:rPr>
              <a:t>Three gaps keep people stuck in place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502152" cy="3017520"/>
          </a:xfrm>
          <a:prstGeom prst="roundRect">
            <a:avLst>
              <a:gd name="adj" fmla="val 6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" y="2194560"/>
            <a:ext cx="475488" cy="475488"/>
          </a:xfrm>
          <a:prstGeom prst="ellipse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8036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B5A2A"/>
                </a:solidFill>
                <a:latin typeface="Arial"/>
              </a:rPr>
              <a:t>Workers can't see the way forward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11880"/>
            <a:ext cx="2880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2704F"/>
                </a:solidFill>
                <a:latin typeface="Arial"/>
              </a:rPr>
              <a:t>They don't know which AI skills are worth learning, or whether their own role is rising or declining.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828800"/>
            <a:ext cx="3502152" cy="3017520"/>
          </a:xfrm>
          <a:prstGeom prst="roundRect">
            <a:avLst>
              <a:gd name="adj" fmla="val 6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73168" y="2194560"/>
            <a:ext cx="475488" cy="475488"/>
          </a:xfrm>
          <a:prstGeom prst="ellipse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88036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B5A2A"/>
                </a:solidFill>
                <a:latin typeface="Arial"/>
              </a:rPr>
              <a:t>Employers can't see the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611880"/>
            <a:ext cx="2880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2704F"/>
                </a:solidFill>
                <a:latin typeface="Arial"/>
              </a:rPr>
              <a:t>HR can't translate AI headlines into a training plan — team reskilling lacks a data basis.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828800"/>
            <a:ext cx="3502152" cy="3017520"/>
          </a:xfrm>
          <a:prstGeom prst="roundRect">
            <a:avLst>
              <a:gd name="adj" fmla="val 6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03336" y="2194560"/>
            <a:ext cx="475488" cy="475488"/>
          </a:xfrm>
          <a:prstGeom prst="ellipse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88036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B5A2A"/>
                </a:solidFill>
                <a:latin typeface="Arial"/>
              </a:rPr>
              <a:t>Training providers ship stale maps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3611880"/>
            <a:ext cx="2880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2704F"/>
                </a:solidFill>
                <a:latin typeface="Arial"/>
              </a:rPr>
              <a:t>Learning pathways are static lists; by the time a course launches, demand has moved.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57800"/>
            <a:ext cx="10543032" cy="658368"/>
          </a:xfrm>
          <a:prstGeom prst="roundRect">
            <a:avLst>
              <a:gd name="adj" fmla="val 50000"/>
            </a:avLst>
          </a:prstGeom>
          <a:solidFill>
            <a:srgbClr val="E4E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5257800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3F4A26"/>
                </a:solidFill>
                <a:latin typeface="Arial"/>
              </a:rPr>
              <a:t>A one-off skills assessment is not enough — people need a system that keeps evolving as the market does.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00">
                <a:solidFill>
                  <a:srgbClr val="7A8663"/>
                </a:solidFill>
                <a:latin typeface="Arial"/>
              </a:rPr>
              <a:t>SkillRadar MY · Lumina Nusantara · SDC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49224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100">
                <a:solidFill>
                  <a:srgbClr val="7A8663"/>
                </a:solidFill>
                <a:latin typeface="Arial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146304" cy="146304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5669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2704F"/>
                </a:solidFill>
                <a:latin typeface="Arial"/>
              </a:rPr>
              <a:t>02 · WHO WE BUILD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4B5A2A"/>
                </a:solidFill>
                <a:latin typeface="Arial"/>
              </a:rPr>
              <a:t>Built for everyone the AI shift touches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2704F"/>
                </a:solidFill>
                <a:latin typeface="Arial"/>
              </a:rPr>
              <a:t>Four personas, one shared question — “what should I learn next?” The live demo opens with this exact choice.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5193792" cy="1691640"/>
          </a:xfrm>
          <a:prstGeom prst="roundRect">
            <a:avLst>
              <a:gd name="adj" fmla="val 8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82296" cy="1691640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30428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4B5A2A"/>
                </a:solidFill>
                <a:latin typeface="Arial"/>
              </a:rPr>
              <a:t>Jobseeker / worker at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70048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04F"/>
                </a:solidFill>
                <a:latin typeface="Arial"/>
              </a:rPr>
              <a:t>“Will my role disappear? Where do I go next — and what do I learn to get there?”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64991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5B7FA6"/>
                </a:solidFill>
                <a:latin typeface="Arial"/>
              </a:rPr>
              <a:t>WORKER FLOW: QUESTIONNAIRE + CV UPLOAD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03120"/>
            <a:ext cx="5193792" cy="1691640"/>
          </a:xfrm>
          <a:prstGeom prst="roundRect">
            <a:avLst>
              <a:gd name="adj" fmla="val 8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2103120"/>
            <a:ext cx="82296" cy="1691640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30428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4B5A2A"/>
                </a:solidFill>
                <a:latin typeface="Arial"/>
              </a:rPr>
              <a:t>Graduate &amp; career switcher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70048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04F"/>
                </a:solidFill>
                <a:latin typeface="Arial"/>
              </a:rPr>
              <a:t>“Show me the direction before I bet my career start on a shrinking track.”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64991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5B7FA6"/>
                </a:solidFill>
                <a:latin typeface="Arial"/>
              </a:rPr>
              <a:t>GRADUATE STUDY-FIELD FILTERING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5193792" cy="1691640"/>
          </a:xfrm>
          <a:prstGeom prst="roundRect">
            <a:avLst>
              <a:gd name="adj" fmla="val 8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3977639"/>
            <a:ext cx="82296" cy="1691640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4178807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4B5A2A"/>
                </a:solidFill>
                <a:latin typeface="Arial"/>
              </a:rPr>
              <a:t>HR &amp; talent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544568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04F"/>
                </a:solidFill>
                <a:latin typeface="Arial"/>
              </a:rPr>
              <a:t>“Give me a team-level skills-gap view I can actually plan training around.”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23951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5B7FA6"/>
                </a:solidFill>
                <a:latin typeface="Arial"/>
              </a:rPr>
              <a:t>HR FLOW: ROSTER → GAP HEATMAP &amp; 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977639"/>
            <a:ext cx="5193792" cy="1691640"/>
          </a:xfrm>
          <a:prstGeom prst="roundRect">
            <a:avLst>
              <a:gd name="adj" fmla="val 8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3977639"/>
            <a:ext cx="82296" cy="1691640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4178807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4B5A2A"/>
                </a:solidFill>
                <a:latin typeface="Arial"/>
              </a:rPr>
              <a:t>TVET &amp; career centres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44568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2704F"/>
                </a:solidFill>
                <a:latin typeface="Arial"/>
              </a:rPr>
              <a:t>“Back career advice with live data, not an outdated handbook.”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23951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5B7FA6"/>
                </a:solidFill>
                <a:latin typeface="Arial"/>
              </a:rPr>
              <a:t>CAREER-CENTRE FLOW: CURRICULUM COVERAGE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00">
                <a:solidFill>
                  <a:srgbClr val="7A8663"/>
                </a:solidFill>
                <a:latin typeface="Arial"/>
              </a:rPr>
              <a:t>SkillRadar MY · Lumina Nusantara · SDC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49224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100">
                <a:solidFill>
                  <a:srgbClr val="7A8663"/>
                </a:solidFill>
                <a:latin typeface="Arial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146304" cy="146304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5669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2704F"/>
                </a:solidFill>
                <a:latin typeface="Arial"/>
              </a:rPr>
              <a:t>03 · 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4B5A2A"/>
                </a:solidFill>
                <a:latin typeface="Arial"/>
              </a:rPr>
              <a:t>One web app, four steps from here to your next role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487168" cy="2880360"/>
          </a:xfrm>
          <a:prstGeom prst="roundRect">
            <a:avLst>
              <a:gd name="adj" fmla="val 7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1488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8A9A5B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6974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4B5A2A"/>
                </a:solidFill>
                <a:latin typeface="Arial"/>
              </a:rPr>
              <a:t>Tell us who you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310128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Upload a CV or answer a 3-minute questionnaire — get a structured skills profile.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3063240"/>
            <a:ext cx="256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8A9A5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1920240"/>
            <a:ext cx="2487168" cy="2880360"/>
          </a:xfrm>
          <a:prstGeom prst="roundRect">
            <a:avLst>
              <a:gd name="adj" fmla="val 7000"/>
            </a:avLst>
          </a:prstGeom>
          <a:solidFill>
            <a:srgbClr val="E4E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94760" y="21488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8A9A5B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6974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4B5A2A"/>
                </a:solidFill>
                <a:latin typeface="Arial"/>
              </a:rPr>
              <a:t>See the market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310128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A versioned trend layer of dated, linked sources: job offerings, named-skill signals, global forecasts.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5896" y="3063240"/>
            <a:ext cx="256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8A9A5B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920240"/>
            <a:ext cx="2487168" cy="2880360"/>
          </a:xfrm>
          <a:prstGeom prst="roundRect">
            <a:avLst>
              <a:gd name="adj" fmla="val 7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21488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8A9A5B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6974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4B5A2A"/>
                </a:solidFill>
                <a:latin typeface="Arial"/>
              </a:rPr>
              <a:t>Get matched roles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310128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Future roles ranked by an explainable score, with your skill gaps spelled 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4" y="3063240"/>
            <a:ext cx="256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8A9A5B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4" y="1920240"/>
            <a:ext cx="2487168" cy="2880360"/>
          </a:xfrm>
          <a:prstGeom prst="roundRect">
            <a:avLst>
              <a:gd name="adj" fmla="val 7000"/>
            </a:avLst>
          </a:prstGeom>
          <a:solidFill>
            <a:srgbClr val="E4E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26296" y="21488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8A9A5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26974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4B5A2A"/>
                </a:solidFill>
                <a:latin typeface="Arial"/>
              </a:rPr>
              <a:t>Follow your pathway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3310128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An ordered learning plan with weekly steps, free or low-cost resources and SDG tags.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66360"/>
            <a:ext cx="105430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2704F"/>
                </a:solidFill>
                <a:latin typeface="Arial"/>
              </a:rPr>
              <a:t>Design principles — every recommendation is explainable and source-traceable; forecasts come as scenarios and are labelled as estimates. The judgement stays with the person, not the algorithm.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" y="5029200"/>
            <a:ext cx="548640" cy="45720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00">
                <a:solidFill>
                  <a:srgbClr val="7A8663"/>
                </a:solidFill>
                <a:latin typeface="Arial"/>
              </a:rPr>
              <a:t>SkillRadar MY · Lumina Nusantara · SDC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49224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100">
                <a:solidFill>
                  <a:srgbClr val="7A8663"/>
                </a:solidFill>
                <a:latin typeface="Arial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146304" cy="146304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5669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2704F"/>
                </a:solidFill>
                <a:latin typeface="Arial"/>
              </a:rPr>
              <a:t>04 ·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4B5A2A"/>
                </a:solidFill>
                <a:latin typeface="Arial"/>
              </a:rPr>
              <a:t>The six must-haves — all running in the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319272" cy="1737360"/>
          </a:xfrm>
          <a:prstGeom prst="roundRect">
            <a:avLst>
              <a:gd name="adj" fmla="val 8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" y="2020824"/>
            <a:ext cx="310896" cy="310896"/>
          </a:xfrm>
          <a:prstGeom prst="ellipse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03911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B5A2A"/>
                </a:solidFill>
                <a:latin typeface="Arial"/>
              </a:rPr>
              <a:t>Skills profile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96312"/>
            <a:ext cx="2788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Questionnaire + synthetic CV parsing into a shared 54-skill taxonomy.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319272" cy="1737360"/>
          </a:xfrm>
          <a:prstGeom prst="roundRect">
            <a:avLst>
              <a:gd name="adj" fmla="val 8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09159" y="2020824"/>
            <a:ext cx="310896" cy="310896"/>
          </a:xfrm>
          <a:prstGeom prst="ellipse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72" y="203911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B5A2A"/>
                </a:solidFill>
                <a:latin typeface="Arial"/>
              </a:rPr>
              <a:t>AI-trend signal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496312"/>
            <a:ext cx="2788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Dated, linked snapshots: DOSM job offerings, JobStreet–Randstad 2025, WEF 2025 — uploaded snapshots re-rank the current profile.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319272" cy="1737360"/>
          </a:xfrm>
          <a:prstGeom prst="roundRect">
            <a:avLst>
              <a:gd name="adj" fmla="val 8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21040" y="2020824"/>
            <a:ext cx="310896" cy="310896"/>
          </a:xfrm>
          <a:prstGeom prst="ellipse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203911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B5A2A"/>
                </a:solidFill>
                <a:latin typeface="Arial"/>
              </a:rPr>
              <a:t>Future-role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96312"/>
            <a:ext cx="2788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Explainable score decomposed into five auditable inputs.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03320"/>
            <a:ext cx="3319272" cy="1737360"/>
          </a:xfrm>
          <a:prstGeom prst="roundRect">
            <a:avLst>
              <a:gd name="adj" fmla="val 8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97280" y="3941063"/>
            <a:ext cx="310896" cy="310896"/>
          </a:xfrm>
          <a:prstGeom prst="ellipse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395935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B5A2A"/>
                </a:solidFill>
                <a:latin typeface="Arial"/>
              </a:rPr>
              <a:t>Personalised pathway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16552"/>
            <a:ext cx="2788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Ordered weekly steps toward free / low-cost courses; 60 course links covering all 54 skills.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03320"/>
            <a:ext cx="3319272" cy="1737360"/>
          </a:xfrm>
          <a:prstGeom prst="roundRect">
            <a:avLst>
              <a:gd name="adj" fmla="val 8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709159" y="3941063"/>
            <a:ext cx="310896" cy="310896"/>
          </a:xfrm>
          <a:prstGeom prst="ellipse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2" y="395935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B5A2A"/>
                </a:solidFill>
                <a:latin typeface="Arial"/>
              </a:rPr>
              <a:t>SDG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4416552"/>
            <a:ext cx="2788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Role-level SDG tags plus a skill-to-target crosswalk, labelled as the team's own reading.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703320"/>
            <a:ext cx="3319272" cy="1737360"/>
          </a:xfrm>
          <a:prstGeom prst="roundRect">
            <a:avLst>
              <a:gd name="adj" fmla="val 8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21040" y="3941063"/>
            <a:ext cx="310896" cy="310896"/>
          </a:xfrm>
          <a:prstGeom prst="ellipse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9952" y="395935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B5A2A"/>
                </a:solidFill>
                <a:latin typeface="Arial"/>
              </a:rPr>
              <a:t>Uncertainty handled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416552"/>
            <a:ext cx="2788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Moderate vs fast disruption scenarios; every forecast marked as an estimate.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623560"/>
            <a:ext cx="10543032" cy="457200"/>
          </a:xfrm>
          <a:prstGeom prst="roundRect">
            <a:avLst>
              <a:gd name="adj" fmla="val 50000"/>
            </a:avLst>
          </a:prstGeom>
          <a:solidFill>
            <a:srgbClr val="E4E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3F4A26"/>
                </a:solidFill>
                <a:latin typeface="Arial"/>
              </a:rPr>
              <a:t>Beyond the checklist: HR team gap heatmap · evidence-source robustness check · trilingual EN / BM / 中文 · low-bandwidth friendly.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00">
                <a:solidFill>
                  <a:srgbClr val="7A8663"/>
                </a:solidFill>
                <a:latin typeface="Arial"/>
              </a:rPr>
              <a:t>SkillRadar MY · Lumina Nusantara · SDC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649224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100">
                <a:solidFill>
                  <a:srgbClr val="7A8663"/>
                </a:solidFill>
                <a:latin typeface="Arial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146304" cy="146304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5669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2704F"/>
                </a:solidFill>
                <a:latin typeface="Arial"/>
              </a:rPr>
              <a:t>05 · EXPLAINABLE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4B5A2A"/>
                </a:solidFill>
                <a:latin typeface="Arial"/>
              </a:rPr>
              <a:t>One score, five inputs — auditable to the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4846320" cy="2286000"/>
          </a:xfrm>
          <a:prstGeom prst="roundRect">
            <a:avLst>
              <a:gd name="adj" fmla="val 7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7A8663"/>
                </a:solidFill>
                <a:latin typeface="Arial"/>
              </a:rPr>
              <a:t>THE MODEL (AS SHIPPED IN THE DEMO)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95728"/>
            <a:ext cx="4297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4B5A2A"/>
                </a:solidFill>
                <a:latin typeface="Arial"/>
              </a:rPr>
              <a:t>score = 0.30 · skill coverage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4B5A2A"/>
                </a:solidFill>
                <a:latin typeface="Arial"/>
              </a:rPr>
              <a:t>      + 0.25 · role focus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4B5A2A"/>
                </a:solidFill>
                <a:latin typeface="Arial"/>
              </a:rPr>
              <a:t>      + 0.15 · transferability + 0.15 · demand trend</a:t>
            </a:r>
          </a:p>
          <a:p>
            <a:pPr algn="l"/>
            <a:r>
              <a:rPr sz="1500" b="1" i="0">
                <a:solidFill>
                  <a:srgbClr val="4B5A2A"/>
                </a:solidFill>
                <a:latin typeface="Arial"/>
              </a:rPr>
              <a:t>      + 0.15 · (1 − gap cost)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913632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Fast-disruption scenario re-weights toward trend (0.35) and penalises flat or declining roles — the toggle is visible in the demo.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617720"/>
            <a:ext cx="4846320" cy="1234440"/>
          </a:xfrm>
          <a:prstGeom prst="roundRect">
            <a:avLst>
              <a:gd name="adj" fmla="val 10000"/>
            </a:avLst>
          </a:prstGeom>
          <a:solidFill>
            <a:srgbClr val="E4E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480060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F4A26"/>
                </a:solidFill>
                <a:latin typeface="Arial"/>
              </a:rPr>
              <a:t>Every input opens in the UI</a:t>
            </a:r>
          </a:p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Each skill signal carries its source name, publish date and retrieval date. Scores are prototype estimates — never hiring probabilities.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83080"/>
            <a:ext cx="5239512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7D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783080"/>
            <a:ext cx="5239512" cy="82296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50">
                <a:solidFill>
                  <a:srgbClr val="4B5A2A"/>
                </a:solidFill>
                <a:latin typeface="Arial"/>
              </a:rPr>
              <a:t>BUSINESS OPERATIONS ASSOCIATE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9572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7A8663"/>
                </a:solidFill>
                <a:latin typeface="Arial"/>
              </a:rPr>
              <a:t>Actual demo output · synthetic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96596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4000" b="1" i="0">
                <a:solidFill>
                  <a:srgbClr val="8A9A5B"/>
                </a:solidFill>
                <a:latin typeface="Arial"/>
              </a:rPr>
              <a:t>64.0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6334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spc="100">
                <a:solidFill>
                  <a:srgbClr val="7A8663"/>
                </a:solidFill>
                <a:latin typeface="Arial"/>
              </a:rPr>
              <a:t>MATCH SCORE /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632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F4A26"/>
                </a:solidFill>
                <a:latin typeface="Arial"/>
              </a:rPr>
              <a:t>Skill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06324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62704F"/>
                </a:solidFill>
                <a:latin typeface="Arial"/>
              </a:rPr>
              <a:t>84%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364992"/>
            <a:ext cx="4617720" cy="128016"/>
          </a:xfrm>
          <a:prstGeom prst="roundRect">
            <a:avLst>
              <a:gd name="adj" fmla="val 50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46520" y="3364992"/>
            <a:ext cx="3463290" cy="128016"/>
          </a:xfrm>
          <a:prstGeom prst="roundRect">
            <a:avLst>
              <a:gd name="adj" fmla="val 50000"/>
            </a:avLst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63016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F4A26"/>
                </a:solidFill>
                <a:latin typeface="Arial"/>
              </a:rPr>
              <a:t>Role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63016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62704F"/>
                </a:solidFill>
                <a:latin typeface="Arial"/>
              </a:rPr>
              <a:t>50%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931920"/>
            <a:ext cx="4617720" cy="128016"/>
          </a:xfrm>
          <a:prstGeom prst="roundRect">
            <a:avLst>
              <a:gd name="adj" fmla="val 50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46520" y="3931920"/>
            <a:ext cx="2308860" cy="128016"/>
          </a:xfrm>
          <a:prstGeom prst="roundRect">
            <a:avLst>
              <a:gd name="adj" fmla="val 50000"/>
            </a:avLst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1970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F4A26"/>
                </a:solidFill>
                <a:latin typeface="Arial"/>
              </a:rPr>
              <a:t>Transferability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19709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62704F"/>
                </a:solidFill>
                <a:latin typeface="Arial"/>
              </a:rPr>
              <a:t>50%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4498848"/>
            <a:ext cx="4617720" cy="128016"/>
          </a:xfrm>
          <a:prstGeom prst="roundRect">
            <a:avLst>
              <a:gd name="adj" fmla="val 50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46520" y="4498848"/>
            <a:ext cx="2308860" cy="128016"/>
          </a:xfrm>
          <a:prstGeom prst="roundRect">
            <a:avLst>
              <a:gd name="adj" fmla="val 50000"/>
            </a:avLst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476402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F4A26"/>
                </a:solidFill>
                <a:latin typeface="Arial"/>
              </a:rPr>
              <a:t>Demand trend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476402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62704F"/>
                </a:solidFill>
                <a:latin typeface="Arial"/>
              </a:rPr>
              <a:t>70%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5065776"/>
            <a:ext cx="4617720" cy="128016"/>
          </a:xfrm>
          <a:prstGeom prst="roundRect">
            <a:avLst>
              <a:gd name="adj" fmla="val 50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46520" y="5065776"/>
            <a:ext cx="3232403" cy="128016"/>
          </a:xfrm>
          <a:prstGeom prst="roundRect">
            <a:avLst>
              <a:gd name="adj" fmla="val 50000"/>
            </a:avLst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6520" y="53309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F4A26"/>
                </a:solidFill>
                <a:latin typeface="Arial"/>
              </a:rPr>
              <a:t>Gap cost · lower is better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5330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62704F"/>
                </a:solidFill>
                <a:latin typeface="Arial"/>
              </a:rPr>
              <a:t>45%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5632704"/>
            <a:ext cx="4617720" cy="128016"/>
          </a:xfrm>
          <a:prstGeom prst="roundRect">
            <a:avLst>
              <a:gd name="adj" fmla="val 50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46520" y="5632704"/>
            <a:ext cx="4294479" cy="128016"/>
          </a:xfrm>
          <a:prstGeom prst="roundRect">
            <a:avLst>
              <a:gd name="adj" fmla="val 50000"/>
            </a:avLst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00">
                <a:solidFill>
                  <a:srgbClr val="7A8663"/>
                </a:solidFill>
                <a:latin typeface="Arial"/>
              </a:rPr>
              <a:t>SkillRadar MY · Lumina Nusantara · SDC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649224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100">
                <a:solidFill>
                  <a:srgbClr val="7A8663"/>
                </a:solidFill>
                <a:latin typeface="Arial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146304" cy="146304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5669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2704F"/>
                </a:solidFill>
                <a:latin typeface="Arial"/>
              </a:rPr>
              <a:t>06 · TECHNICAL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4B5A2A"/>
                </a:solidFill>
                <a:latin typeface="Arial"/>
              </a:rPr>
              <a:t>Signals in, pathways out — four honest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43032" cy="713232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82296" cy="713232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84708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50">
                <a:solidFill>
                  <a:srgbClr val="4B5A2A"/>
                </a:solidFill>
                <a:latin typeface="Arial"/>
              </a:rPr>
              <a:t>STREAMLIT WEB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828800"/>
            <a:ext cx="6812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Trilingual EN / BM / 中文 UI · worker, graduate, HR and career-centre flows · low-bandwidth friendly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78608"/>
            <a:ext cx="10543032" cy="713232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578608"/>
            <a:ext cx="82296" cy="713232"/>
          </a:xfrm>
          <a:prstGeom prst="rect">
            <a:avLst/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68833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50">
                <a:solidFill>
                  <a:srgbClr val="4B5A2A"/>
                </a:solidFill>
                <a:latin typeface="Arial"/>
              </a:rPr>
              <a:t>DETERMINISTIC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670048"/>
            <a:ext cx="6812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Pure-Python scoring, pathway &amp; SDG modules — no external AI service on the request path · 52 automated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19856"/>
            <a:ext cx="10543032" cy="713232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419856"/>
            <a:ext cx="82296" cy="713232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3529584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50">
                <a:solidFill>
                  <a:srgbClr val="4B5A2A"/>
                </a:solidFill>
                <a:latin typeface="Arial"/>
              </a:rPr>
              <a:t>CURATED CATALOGUES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511296"/>
            <a:ext cx="6812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Role &amp; skill catalogue · 60 linked course records · skill-to-SDG crosswalk, all versioned in 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61104"/>
            <a:ext cx="10543032" cy="713232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261104"/>
            <a:ext cx="82296" cy="713232"/>
          </a:xfrm>
          <a:prstGeom prst="rect">
            <a:avLst/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4370832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50">
                <a:solidFill>
                  <a:srgbClr val="4B5A2A"/>
                </a:solidFill>
                <a:latin typeface="Arial"/>
              </a:rPr>
              <a:t>TREND SIGNAL SNAPSHOTS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352544"/>
            <a:ext cx="6812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DOSM online job offerings 2026 Q1/Q2 · JobStreet–Randstad 2025 skill signals · WEF Future of Jobs 2025 · validated manual import, source + date shown · in-app reviewed snapshot re-ranks in-session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5B7FA6"/>
                </a:solidFill>
                <a:latin typeface="Arial"/>
              </a:rPr>
              <a:t>IN THE DEMO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51206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7A8663"/>
                </a:solidFill>
                <a:latin typeface="Arial"/>
              </a:rPr>
              <a:t>ON THE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22392"/>
            <a:ext cx="5166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Rule-based explainable scoring · scenario toggle · evidence-source robustness check · HR heatmap · trilingual UI · tested data-import pipeline.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422392"/>
            <a:ext cx="5166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LLM / vector semantic CV parsing · automated trend scraping · verified course durations &amp; fees · fairness audits across age, gender and background.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00">
                <a:solidFill>
                  <a:srgbClr val="7A8663"/>
                </a:solidFill>
                <a:latin typeface="Arial"/>
              </a:rPr>
              <a:t>SkillRadar MY · Lumina Nusantara · SDC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49224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100">
                <a:solidFill>
                  <a:srgbClr val="7A8663"/>
                </a:solidFill>
                <a:latin typeface="Arial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146304" cy="146304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5669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2704F"/>
                </a:solidFill>
                <a:latin typeface="Arial"/>
              </a:rPr>
              <a:t>07 · SDG IMPACT · INTENDED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4B5A2A"/>
                </a:solidFill>
                <a:latin typeface="Arial"/>
              </a:rPr>
              <a:t>Every pathway points at the Goals — led by SDG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2704F"/>
                </a:solidFill>
                <a:latin typeface="Arial"/>
              </a:rPr>
              <a:t>Primary track: SDG 4 Quality Education (Target 4.4), with SDG 8.5 on decent work. Framed as intended contribution — impact indicators are still to be validated.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2551176" cy="2834640"/>
          </a:xfrm>
          <a:prstGeom prst="roundRect">
            <a:avLst>
              <a:gd name="adj" fmla="val 7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2551176" cy="566928"/>
          </a:xfrm>
          <a:prstGeom prst="roundRect">
            <a:avLst>
              <a:gd name="adj" fmla="val 7000"/>
            </a:avLst>
          </a:prstGeom>
          <a:solidFill>
            <a:srgbClr val="C51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340864"/>
            <a:ext cx="2551176" cy="283464"/>
          </a:xfrm>
          <a:prstGeom prst="rect">
            <a:avLst/>
          </a:prstGeom>
          <a:solidFill>
            <a:srgbClr val="C51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2551176" cy="5669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rial"/>
              </a:rPr>
              <a:t>SDG 4 · Quality Education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88920"/>
            <a:ext cx="21031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Reskilling pathways built from free and low-cost resources — education that reaches working adults, not just students.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8436" y="2057400"/>
            <a:ext cx="2551176" cy="2834640"/>
          </a:xfrm>
          <a:prstGeom prst="roundRect">
            <a:avLst>
              <a:gd name="adj" fmla="val 7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88436" y="2057400"/>
            <a:ext cx="2551176" cy="566928"/>
          </a:xfrm>
          <a:prstGeom prst="roundRect">
            <a:avLst>
              <a:gd name="adj" fmla="val 7000"/>
            </a:avLst>
          </a:prstGeom>
          <a:solidFill>
            <a:srgbClr val="A21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88436" y="2340864"/>
            <a:ext cx="2551176" cy="283464"/>
          </a:xfrm>
          <a:prstGeom prst="rect">
            <a:avLst/>
          </a:prstGeom>
          <a:solidFill>
            <a:srgbClr val="A21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88436" y="2057400"/>
            <a:ext cx="2551176" cy="56692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SDG 8 · Decent Work &amp;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7035" y="2788920"/>
            <a:ext cx="21031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Helping workers transition into AI-era roles with their employability and dignity intact (intended outcome, to be measured).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2057400"/>
            <a:ext cx="2551176" cy="2834640"/>
          </a:xfrm>
          <a:prstGeom prst="roundRect">
            <a:avLst>
              <a:gd name="adj" fmla="val 7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53912" y="2057400"/>
            <a:ext cx="2551176" cy="566928"/>
          </a:xfrm>
          <a:prstGeom prst="roundRect">
            <a:avLst>
              <a:gd name="adj" fmla="val 7000"/>
            </a:avLst>
          </a:prstGeom>
          <a:solidFill>
            <a:srgbClr val="FF3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3912" y="2340864"/>
            <a:ext cx="2551176" cy="283464"/>
          </a:xfrm>
          <a:prstGeom prst="rect">
            <a:avLst/>
          </a:prstGeom>
          <a:solidFill>
            <a:srgbClr val="FF3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53912" y="2057400"/>
            <a:ext cx="2551176" cy="566928"/>
          </a:xfrm>
          <a:prstGeom prst="rect">
            <a:avLst/>
          </a:prstGeom>
          <a:solidFill>
            <a:srgbClr val="00B0F0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SDG 5 · Gender Equality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788920"/>
            <a:ext cx="21031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Recommendations must not systematically differ by gender or age — fairness checks are on the roadmap.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19388" y="2057400"/>
            <a:ext cx="2551176" cy="2834640"/>
          </a:xfrm>
          <a:prstGeom prst="roundRect">
            <a:avLst>
              <a:gd name="adj" fmla="val 7000"/>
            </a:avLst>
          </a:prstGeom>
          <a:solidFill>
            <a:srgbClr val="EE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819388" y="2057400"/>
            <a:ext cx="2551176" cy="566928"/>
          </a:xfrm>
          <a:prstGeom prst="roundRect">
            <a:avLst>
              <a:gd name="adj" fmla="val 7000"/>
            </a:avLst>
          </a:prstGeom>
          <a:solidFill>
            <a:srgbClr val="DD1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19388" y="2340864"/>
            <a:ext cx="2551176" cy="283464"/>
          </a:xfrm>
          <a:prstGeom prst="rect">
            <a:avLst/>
          </a:prstGeom>
          <a:solidFill>
            <a:srgbClr val="DD1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19388" y="2057400"/>
            <a:ext cx="2551176" cy="56692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SDG 10 · Reduced Inequalities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7988" y="2788920"/>
            <a:ext cx="21031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2704F"/>
                </a:solidFill>
                <a:latin typeface="Arial"/>
              </a:rPr>
              <a:t>Trilingual, low-bandwidth design so urban and rural learners use the same tool.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212080"/>
            <a:ext cx="10543032" cy="685800"/>
          </a:xfrm>
          <a:prstGeom prst="roundRect">
            <a:avLst>
              <a:gd name="adj" fmla="val 12000"/>
            </a:avLst>
          </a:prstGeom>
          <a:solidFill>
            <a:srgbClr val="E4E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521208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F4A26"/>
                </a:solidFill>
                <a:latin typeface="Arial"/>
              </a:rPr>
              <a:t>Honest mapping: the skill-to-target crosswalk is the team's own reading of the 2030 Agenda — it is shown in-app and labelled as such, not claimed as an official UN correspondence.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00">
                <a:solidFill>
                  <a:srgbClr val="7A8663"/>
                </a:solidFill>
                <a:latin typeface="Arial"/>
              </a:rPr>
              <a:t>SkillRadar MY · Lumina Nusantara · SDC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649224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100">
                <a:solidFill>
                  <a:srgbClr val="7A8663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585216"/>
            <a:ext cx="146304" cy="146304"/>
          </a:xfrm>
          <a:prstGeom prst="rect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62704F"/>
                </a:solidFill>
                <a:latin typeface="Arial"/>
              </a:rPr>
              <a:t>07 · PROTOTYPE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4B5A2A"/>
                </a:solidFill>
                <a:latin typeface="Arial"/>
              </a:rPr>
              <a:t>Three screens from the running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6576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7D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657600" cy="329184"/>
          </a:xfrm>
          <a:prstGeom prst="roundRect">
            <a:avLst>
              <a:gd name="adj" fmla="val 4000"/>
            </a:avLst>
          </a:prstGeom>
          <a:solidFill>
            <a:srgbClr val="E4E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10512"/>
            <a:ext cx="3657600" cy="164592"/>
          </a:xfrm>
          <a:prstGeom prst="rect">
            <a:avLst/>
          </a:prstGeom>
          <a:solidFill>
            <a:srgbClr val="E4E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68096" y="1764792"/>
            <a:ext cx="91440" cy="91440"/>
          </a:xfrm>
          <a:prstGeom prst="ellipse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23544" y="1764792"/>
            <a:ext cx="91440" cy="91440"/>
          </a:xfrm>
          <a:prstGeom prst="ellipse">
            <a:avLst/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78992" y="1764792"/>
            <a:ext cx="91440" cy="91440"/>
          </a:xfrm>
          <a:prstGeom prst="ellipse">
            <a:avLst/>
          </a:prstGeom>
          <a:solidFill>
            <a:srgbClr val="7A8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325880" y="1714500"/>
            <a:ext cx="2286000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50" b="0" i="0">
                <a:solidFill>
                  <a:srgbClr val="7A8663"/>
                </a:solidFill>
                <a:latin typeface="Arial"/>
              </a:rPr>
              <a:t>sdc2026-lumina-nusantara…streamlit.app</a:t>
            </a:r>
          </a:p>
        </p:txBody>
      </p:sp>
      <p:pic>
        <p:nvPicPr>
          <p:cNvPr id="12" name="Picture 11" descr="image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25375"/>
            <a:ext cx="3383280" cy="3001609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502920" y="1481328"/>
            <a:ext cx="347472" cy="347472"/>
          </a:xfrm>
          <a:prstGeom prst="ellipse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645920"/>
            <a:ext cx="70866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7D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0" y="1645920"/>
            <a:ext cx="7086600" cy="329184"/>
          </a:xfrm>
          <a:prstGeom prst="roundRect">
            <a:avLst>
              <a:gd name="adj" fmla="val 4000"/>
            </a:avLst>
          </a:prstGeom>
          <a:solidFill>
            <a:srgbClr val="E4E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0" y="1810512"/>
            <a:ext cx="7086600" cy="164592"/>
          </a:xfrm>
          <a:prstGeom prst="rect">
            <a:avLst/>
          </a:prstGeom>
          <a:solidFill>
            <a:srgbClr val="E4E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700016" y="1764792"/>
            <a:ext cx="91440" cy="91440"/>
          </a:xfrm>
          <a:prstGeom prst="ellipse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855464" y="1764792"/>
            <a:ext cx="91440" cy="91440"/>
          </a:xfrm>
          <a:prstGeom prst="ellipse">
            <a:avLst/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010912" y="1764792"/>
            <a:ext cx="91440" cy="91440"/>
          </a:xfrm>
          <a:prstGeom prst="ellipse">
            <a:avLst/>
          </a:prstGeom>
          <a:solidFill>
            <a:srgbClr val="7A8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57800" y="1714500"/>
            <a:ext cx="5715000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50" b="0" i="0">
                <a:solidFill>
                  <a:srgbClr val="7A8663"/>
                </a:solidFill>
                <a:latin typeface="Arial"/>
              </a:rPr>
              <a:t>…streamlit.app · role matches</a:t>
            </a:r>
          </a:p>
        </p:txBody>
      </p:sp>
      <p:pic>
        <p:nvPicPr>
          <p:cNvPr id="21" name="Picture 20" descr="image(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816" y="2066543"/>
            <a:ext cx="5062967" cy="1810512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4434840" y="1481328"/>
            <a:ext cx="347472" cy="347472"/>
          </a:xfrm>
          <a:prstGeom prst="ellipse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187952"/>
            <a:ext cx="7086600" cy="1618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7D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572000" y="4187952"/>
            <a:ext cx="7086600" cy="329184"/>
          </a:xfrm>
          <a:prstGeom prst="roundRect">
            <a:avLst>
              <a:gd name="adj" fmla="val 4000"/>
            </a:avLst>
          </a:prstGeom>
          <a:solidFill>
            <a:srgbClr val="E4E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4352544"/>
            <a:ext cx="7086600" cy="164592"/>
          </a:xfrm>
          <a:prstGeom prst="rect">
            <a:avLst/>
          </a:prstGeom>
          <a:solidFill>
            <a:srgbClr val="E4E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700016" y="4306824"/>
            <a:ext cx="91440" cy="91440"/>
          </a:xfrm>
          <a:prstGeom prst="ellipse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855464" y="4306824"/>
            <a:ext cx="91440" cy="91440"/>
          </a:xfrm>
          <a:prstGeom prst="ellipse">
            <a:avLst/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010912" y="4306824"/>
            <a:ext cx="91440" cy="91440"/>
          </a:xfrm>
          <a:prstGeom prst="ellipse">
            <a:avLst/>
          </a:prstGeom>
          <a:solidFill>
            <a:srgbClr val="7A8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257800" y="4256532"/>
            <a:ext cx="5715000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50" b="0" i="0">
                <a:solidFill>
                  <a:srgbClr val="7A8663"/>
                </a:solidFill>
                <a:latin typeface="Arial"/>
              </a:rPr>
              <a:t>…streamlit.app · pathway &amp; SDG</a:t>
            </a:r>
          </a:p>
        </p:txBody>
      </p:sp>
      <p:pic>
        <p:nvPicPr>
          <p:cNvPr id="30" name="Picture 29" descr="image(1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86" y="4626864"/>
            <a:ext cx="3483722" cy="1078992"/>
          </a:xfrm>
          <a:prstGeom prst="rect">
            <a:avLst/>
          </a:prstGeom>
        </p:spPr>
      </p:pic>
      <p:pic>
        <p:nvPicPr>
          <p:cNvPr id="31" name="Picture 30" descr="image(12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7158" y="4590288"/>
            <a:ext cx="2279643" cy="1152144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4434840" y="4023360"/>
            <a:ext cx="347472" cy="347472"/>
          </a:xfrm>
          <a:prstGeom prst="ellipse">
            <a:avLst/>
          </a:prstGeom>
          <a:solidFill>
            <a:srgbClr val="8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7A8663"/>
                </a:solidFill>
                <a:latin typeface="Arial"/>
              </a:rPr>
              <a:t>Screenshots captured from the live demo · synthetic sample data · free-tier instance may take 30–60 s to wake.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D7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6492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00">
                <a:solidFill>
                  <a:srgbClr val="7A8663"/>
                </a:solidFill>
                <a:latin typeface="Arial"/>
              </a:rPr>
              <a:t>SkillRadar MY · Lumina Nusantara · SDC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649224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100">
                <a:solidFill>
                  <a:srgbClr val="7A8663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" y="777240"/>
            <a:ext cx="457200" cy="457200"/>
          </a:xfrm>
          <a:prstGeom prst="ellipse">
            <a:avLst/>
          </a:prstGeom>
          <a:noFill/>
          <a:ln w="27940">
            <a:solidFill>
              <a:srgbClr val="F2F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iamond 3"/>
          <p:cNvSpPr/>
          <p:nvPr/>
        </p:nvSpPr>
        <p:spPr>
          <a:xfrm>
            <a:off x="978408" y="850392"/>
            <a:ext cx="182880" cy="182880"/>
          </a:xfrm>
          <a:prstGeom prst="diamond">
            <a:avLst/>
          </a:prstGeom>
          <a:solidFill>
            <a:srgbClr val="3F4A2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2416" y="978408"/>
            <a:ext cx="54864" cy="54864"/>
          </a:xfrm>
          <a:prstGeom prst="ellipse">
            <a:avLst/>
          </a:prstGeom>
          <a:solidFill>
            <a:srgbClr val="3F4A2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44752" y="85953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3F4A26"/>
                </a:solidFill>
                <a:latin typeface="Arial"/>
              </a:rPr>
              <a:t>SKILLRADAR 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4884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3F4A26"/>
                </a:solidFill>
                <a:latin typeface="Arial"/>
              </a:rPr>
              <a:t>Make AI everyone's partner —</a:t>
            </a:r>
          </a:p>
          <a:p>
            <a:pPr algn="l"/>
            <a:r>
              <a:rPr sz="3600" b="1" i="0">
                <a:solidFill>
                  <a:srgbClr val="3F4A26"/>
                </a:solidFill>
                <a:latin typeface="Arial"/>
              </a:rPr>
              <a:t>not their replacement.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3794760"/>
            <a:ext cx="777240" cy="45720"/>
          </a:xfrm>
          <a:prstGeom prst="rect">
            <a:avLst/>
          </a:prstGeom>
          <a:solidFill>
            <a:srgbClr val="3F4A2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B5A2A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69663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4B5A2A"/>
                </a:solidFill>
                <a:latin typeface="Arial"/>
              </a:rPr>
              <a:t>Pilot with TVET institutions and career centres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562856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B5A2A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4B5A2A"/>
                </a:solidFill>
                <a:latin typeface="Arial"/>
              </a:rPr>
              <a:t>Verified course catalogue — real durations, links and fees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96519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B5A2A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974336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4B5A2A"/>
                </a:solidFill>
                <a:latin typeface="Arial"/>
              </a:rPr>
              <a:t>Fairness audits across age, gender and background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977639"/>
            <a:ext cx="3730752" cy="1920240"/>
          </a:xfrm>
          <a:prstGeom prst="roundRect">
            <a:avLst>
              <a:gd name="adj" fmla="val 8000"/>
            </a:avLst>
          </a:prstGeom>
          <a:solidFill>
            <a:srgbClr val="6F8140"/>
          </a:solidFill>
          <a:ln w="9525">
            <a:solidFill>
              <a:srgbClr val="3F4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41605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C9D4A9"/>
                </a:solidFill>
                <a:latin typeface="Arial"/>
              </a:rPr>
              <a:t>TRY IT YOURSELF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526280"/>
            <a:ext cx="32004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 u="sng">
                <a:solidFill>
                  <a:srgbClr val="4B5A2A"/>
                </a:solidFill>
                <a:latin typeface="Arial"/>
                <a:hlinkClick r:id="rId2"/>
              </a:rPr>
              <a:t>Live demo (Streamlit)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C9D4A9"/>
                </a:solidFill>
                <a:latin typeface="Arial"/>
              </a:rPr>
              <a:t>sdc2026-lumina-nusantara…streamlit.app</a:t>
            </a:r>
          </a:p>
          <a:p>
            <a:pPr algn="l">
              <a:spcAft>
                <a:spcPts val="200"/>
              </a:spcAft>
            </a:pPr>
            <a:r>
              <a:rPr sz="1200" b="1" i="0" u="sng">
                <a:solidFill>
                  <a:srgbClr val="4B5A2A"/>
                </a:solidFill>
                <a:latin typeface="Arial"/>
                <a:hlinkClick r:id="rId3"/>
              </a:rPr>
              <a:t>GitHub repository</a:t>
            </a:r>
          </a:p>
          <a:p>
            <a:pPr algn="l"/>
            <a:r>
              <a:rPr sz="950" b="0" i="0">
                <a:solidFill>
                  <a:srgbClr val="C9D4A9"/>
                </a:solidFill>
                <a:latin typeface="Arial"/>
              </a:rPr>
              <a:t>github.com/douyinlin/sdc2026-lumina-nusantara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1264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4B5A2A"/>
                </a:solidFill>
                <a:latin typeface="Arial"/>
              </a:rPr>
              <a:t>THANK YOU · Q&amp;A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419088"/>
            <a:ext cx="10543032" cy="10972"/>
          </a:xfrm>
          <a:prstGeom prst="rect">
            <a:avLst/>
          </a:prstGeom>
          <a:solidFill>
            <a:srgbClr val="3F4A2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64922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00">
                <a:solidFill>
                  <a:srgbClr val="4B5A2A"/>
                </a:solidFill>
                <a:latin typeface="Arial"/>
              </a:rPr>
              <a:t>SkillRadar MY · Lumina Nusantara · SDC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492240"/>
            <a:ext cx="13990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100">
                <a:solidFill>
                  <a:srgbClr val="4B5A2A"/>
                </a:solidFill>
                <a:latin typeface="Arial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E8C6"/>
      </a:hlink>
      <a:folHlink>
        <a:srgbClr val="B7C98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1508</Words>
  <Application>Microsoft Office PowerPoint</Application>
  <PresentationFormat>宽屏</PresentationFormat>
  <Paragraphs>210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Helvetica Neue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SkillRadar MY — SDC 2026 Preliminary Deck</dc:title>
  <dc:subject/>
  <dc:creator>Lumina Nusantara</dc:creator>
  <cp:keywords/>
  <dc:description>generated using python-pptx</dc:description>
  <cp:lastModifiedBy>quanying zheng</cp:lastModifiedBy>
  <cp:revision>2</cp:revision>
  <dcterms:created xsi:type="dcterms:W3CDTF">2013-01-27T09:14:16Z</dcterms:created>
  <dcterms:modified xsi:type="dcterms:W3CDTF">2026-10-23T08:22:45Z</dcterms:modified>
  <cp:category/>
</cp:coreProperties>
</file>